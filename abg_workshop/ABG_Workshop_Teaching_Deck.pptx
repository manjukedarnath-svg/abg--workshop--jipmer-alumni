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365760"/>
          </a:xfrm>
          <a:prstGeom prst="rect">
            <a:avLst/>
          </a:prstGeom>
          <a:noFill/>
        </p:spPr>
        <p:txBody>
          <a:bodyPr wrap="square" lIns="0" rIns="0" tIns="0" bIns="0" anchor="t">
            <a:spAutoFit/>
          </a:bodyPr>
          <a:lstStyle/>
          <a:p>
            <a:pPr algn="ctr"/>
            <a:r>
              <a:rPr sz="1200" b="1" i="0">
                <a:solidFill>
                  <a:srgbClr val="0F6E6E"/>
                </a:solidFill>
                <a:latin typeface="Helvetica"/>
              </a:rPr>
              <a:t>PAEDIATRIC ACUTE CARE TEACHING</a:t>
            </a:r>
          </a:p>
        </p:txBody>
      </p:sp>
      <p:sp>
        <p:nvSpPr>
          <p:cNvPr id="4" name="TextBox 3"/>
          <p:cNvSpPr txBox="1"/>
          <p:nvPr/>
        </p:nvSpPr>
        <p:spPr>
          <a:xfrm>
            <a:off x="914400" y="2468880"/>
            <a:ext cx="10332720" cy="1097280"/>
          </a:xfrm>
          <a:prstGeom prst="rect">
            <a:avLst/>
          </a:prstGeom>
          <a:noFill/>
        </p:spPr>
        <p:txBody>
          <a:bodyPr wrap="square" lIns="0" rIns="0" tIns="0" bIns="0" anchor="t">
            <a:spAutoFit/>
          </a:bodyPr>
          <a:lstStyle/>
          <a:p>
            <a:pPr algn="ctr"/>
            <a:r>
              <a:rPr sz="4400" b="1" i="0">
                <a:solidFill>
                  <a:srgbClr val="FFFFFF"/>
                </a:solidFill>
                <a:latin typeface="Helvetica"/>
              </a:rPr>
              <a:t>ABG Interpretation Workshop</a:t>
            </a:r>
          </a:p>
        </p:txBody>
      </p:sp>
      <p:sp>
        <p:nvSpPr>
          <p:cNvPr id="5" name="TextBox 4"/>
          <p:cNvSpPr txBox="1"/>
          <p:nvPr/>
        </p:nvSpPr>
        <p:spPr>
          <a:xfrm>
            <a:off x="914400" y="3749039"/>
            <a:ext cx="10332720" cy="457200"/>
          </a:xfrm>
          <a:prstGeom prst="rect">
            <a:avLst/>
          </a:prstGeom>
          <a:noFill/>
        </p:spPr>
        <p:txBody>
          <a:bodyPr wrap="square" lIns="0" rIns="0" tIns="0" bIns="0" anchor="t">
            <a:spAutoFit/>
          </a:bodyPr>
          <a:lstStyle/>
          <a:p>
            <a:pPr algn="ctr"/>
            <a:r>
              <a:rPr sz="1800" b="0" i="0">
                <a:solidFill>
                  <a:srgbClr val="F4F6F8"/>
                </a:solidFill>
                <a:latin typeface="Helvetica"/>
              </a:rPr>
              <a:t>Moderator Teaching Deck — 13 Cases</a:t>
            </a:r>
          </a:p>
        </p:txBody>
      </p:sp>
      <p:sp>
        <p:nvSpPr>
          <p:cNvPr id="6" name="Rectangle 5"/>
          <p:cNvSpPr/>
          <p:nvPr/>
        </p:nvSpPr>
        <p:spPr>
          <a:xfrm>
            <a:off x="5029200" y="4480560"/>
            <a:ext cx="2130552" cy="45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0"/>
            <a:ext cx="10332720" cy="365760"/>
          </a:xfrm>
          <a:prstGeom prst="rect">
            <a:avLst/>
          </a:prstGeom>
          <a:noFill/>
        </p:spPr>
        <p:txBody>
          <a:bodyPr wrap="square" lIns="0" rIns="0" tIns="0" bIns="0" anchor="t">
            <a:spAutoFit/>
          </a:bodyPr>
          <a:lstStyle/>
          <a:p>
            <a:pPr algn="ctr"/>
            <a:r>
              <a:rPr sz="1300" b="0" i="0">
                <a:solidFill>
                  <a:srgbClr val="F4F6F8"/>
                </a:solidFill>
                <a:latin typeface="Helvetica"/>
              </a:rPr>
              <a:t>13 cases in the booklet  ·  8 drawn live at the start  ·  15 min per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HOW TODAY RUNS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Three steps, one rhythm</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2011680"/>
            <a:ext cx="91440" cy="1188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2743200" cy="274320"/>
          </a:xfrm>
          <a:prstGeom prst="rect">
            <a:avLst/>
          </a:prstGeom>
          <a:noFill/>
        </p:spPr>
        <p:txBody>
          <a:bodyPr wrap="square" lIns="0" rIns="0" tIns="0" bIns="0" anchor="t">
            <a:spAutoFit/>
          </a:bodyPr>
          <a:lstStyle/>
          <a:p>
            <a:pPr algn="l"/>
            <a:r>
              <a:rPr sz="1100" b="1" i="0">
                <a:solidFill>
                  <a:srgbClr val="0F6E6E"/>
                </a:solidFill>
                <a:latin typeface="Helvetica"/>
              </a:rPr>
              <a:t>STEP 1</a:t>
            </a:r>
          </a:p>
        </p:txBody>
      </p:sp>
      <p:sp>
        <p:nvSpPr>
          <p:cNvPr id="7" name="TextBox 6"/>
          <p:cNvSpPr txBox="1"/>
          <p:nvPr/>
        </p:nvSpPr>
        <p:spPr>
          <a:xfrm>
            <a:off x="822960" y="2286000"/>
            <a:ext cx="10515600" cy="365760"/>
          </a:xfrm>
          <a:prstGeom prst="rect">
            <a:avLst/>
          </a:prstGeom>
          <a:noFill/>
        </p:spPr>
        <p:txBody>
          <a:bodyPr wrap="square" lIns="0" rIns="0" tIns="0" bIns="0" anchor="t">
            <a:spAutoFit/>
          </a:bodyPr>
          <a:lstStyle/>
          <a:p>
            <a:pPr algn="l"/>
            <a:r>
              <a:rPr sz="1700" b="1" i="0">
                <a:solidFill>
                  <a:srgbClr val="1B2A3A"/>
                </a:solidFill>
                <a:latin typeface="Helvetica"/>
              </a:rPr>
              <a:t>All 13 cases handed out</a:t>
            </a:r>
          </a:p>
        </p:txBody>
      </p:sp>
      <p:sp>
        <p:nvSpPr>
          <p:cNvPr id="8" name="TextBox 7"/>
          <p:cNvSpPr txBox="1"/>
          <p:nvPr/>
        </p:nvSpPr>
        <p:spPr>
          <a:xfrm>
            <a:off x="822960" y="2670048"/>
            <a:ext cx="10515600" cy="548640"/>
          </a:xfrm>
          <a:prstGeom prst="rect">
            <a:avLst/>
          </a:prstGeom>
          <a:noFill/>
        </p:spPr>
        <p:txBody>
          <a:bodyPr wrap="square" lIns="0" rIns="0" tIns="0" bIns="0" anchor="t">
            <a:spAutoFit/>
          </a:bodyPr>
          <a:lstStyle/>
          <a:p>
            <a:pPr algn="l">
              <a:lnSpc>
                <a:spcPct val="130000"/>
              </a:lnSpc>
            </a:pPr>
            <a:r>
              <a:rPr sz="1150" b="0" i="0">
                <a:solidFill>
                  <a:srgbClr val="5A6672"/>
                </a:solidFill>
                <a:latin typeface="Helvetica"/>
              </a:rPr>
              <a:t>The booklet contains 13 cases. At the start the moderator draws 8 for the live run; the other 5 become self-study.</a:t>
            </a:r>
          </a:p>
        </p:txBody>
      </p:sp>
      <p:sp>
        <p:nvSpPr>
          <p:cNvPr id="9" name="Rectangle 8"/>
          <p:cNvSpPr/>
          <p:nvPr/>
        </p:nvSpPr>
        <p:spPr>
          <a:xfrm>
            <a:off x="548640" y="3429000"/>
            <a:ext cx="91440" cy="1188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29000"/>
            <a:ext cx="2743200" cy="274320"/>
          </a:xfrm>
          <a:prstGeom prst="rect">
            <a:avLst/>
          </a:prstGeom>
          <a:noFill/>
        </p:spPr>
        <p:txBody>
          <a:bodyPr wrap="square" lIns="0" rIns="0" tIns="0" bIns="0" anchor="t">
            <a:spAutoFit/>
          </a:bodyPr>
          <a:lstStyle/>
          <a:p>
            <a:pPr algn="l"/>
            <a:r>
              <a:rPr sz="1100" b="1" i="0">
                <a:solidFill>
                  <a:srgbClr val="0F6E6E"/>
                </a:solidFill>
                <a:latin typeface="Helvetica"/>
              </a:rPr>
              <a:t>STEP 2</a:t>
            </a:r>
          </a:p>
        </p:txBody>
      </p:sp>
      <p:sp>
        <p:nvSpPr>
          <p:cNvPr id="11" name="TextBox 10"/>
          <p:cNvSpPr txBox="1"/>
          <p:nvPr/>
        </p:nvSpPr>
        <p:spPr>
          <a:xfrm>
            <a:off x="822960" y="3703320"/>
            <a:ext cx="10515600" cy="365760"/>
          </a:xfrm>
          <a:prstGeom prst="rect">
            <a:avLst/>
          </a:prstGeom>
          <a:noFill/>
        </p:spPr>
        <p:txBody>
          <a:bodyPr wrap="square" lIns="0" rIns="0" tIns="0" bIns="0" anchor="t">
            <a:spAutoFit/>
          </a:bodyPr>
          <a:lstStyle/>
          <a:p>
            <a:pPr algn="l"/>
            <a:r>
              <a:rPr sz="1700" b="1" i="0">
                <a:solidFill>
                  <a:srgbClr val="1B2A3A"/>
                </a:solidFill>
                <a:latin typeface="Helvetica"/>
              </a:rPr>
              <a:t>8-minute settling period</a:t>
            </a:r>
          </a:p>
        </p:txBody>
      </p:sp>
      <p:sp>
        <p:nvSpPr>
          <p:cNvPr id="12" name="TextBox 11"/>
          <p:cNvSpPr txBox="1"/>
          <p:nvPr/>
        </p:nvSpPr>
        <p:spPr>
          <a:xfrm>
            <a:off x="822960" y="4087368"/>
            <a:ext cx="10515600" cy="548640"/>
          </a:xfrm>
          <a:prstGeom prst="rect">
            <a:avLst/>
          </a:prstGeom>
          <a:noFill/>
        </p:spPr>
        <p:txBody>
          <a:bodyPr wrap="square" lIns="0" rIns="0" tIns="0" bIns="0" anchor="t">
            <a:spAutoFit/>
          </a:bodyPr>
          <a:lstStyle/>
          <a:p>
            <a:pPr algn="l">
              <a:lnSpc>
                <a:spcPct val="130000"/>
              </a:lnSpc>
            </a:pPr>
            <a:r>
              <a:rPr sz="1150" b="0" i="0">
                <a:solidFill>
                  <a:srgbClr val="5A6672"/>
                </a:solidFill>
                <a:latin typeface="Helvetica"/>
              </a:rPr>
              <a:t>Participants may read ahead. Faculty do not teach yet — the facilitated cycle has not started.</a:t>
            </a:r>
          </a:p>
        </p:txBody>
      </p:sp>
      <p:sp>
        <p:nvSpPr>
          <p:cNvPr id="13" name="Rectangle 12"/>
          <p:cNvSpPr/>
          <p:nvPr/>
        </p:nvSpPr>
        <p:spPr>
          <a:xfrm>
            <a:off x="548640" y="4846320"/>
            <a:ext cx="91440" cy="1188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846320"/>
            <a:ext cx="2743200" cy="274320"/>
          </a:xfrm>
          <a:prstGeom prst="rect">
            <a:avLst/>
          </a:prstGeom>
          <a:noFill/>
        </p:spPr>
        <p:txBody>
          <a:bodyPr wrap="square" lIns="0" rIns="0" tIns="0" bIns="0" anchor="t">
            <a:spAutoFit/>
          </a:bodyPr>
          <a:lstStyle/>
          <a:p>
            <a:pPr algn="l"/>
            <a:r>
              <a:rPr sz="1100" b="1" i="0">
                <a:solidFill>
                  <a:srgbClr val="0F6E6E"/>
                </a:solidFill>
                <a:latin typeface="Helvetica"/>
              </a:rPr>
              <a:t>STEP 3</a:t>
            </a:r>
          </a:p>
        </p:txBody>
      </p:sp>
      <p:sp>
        <p:nvSpPr>
          <p:cNvPr id="15" name="TextBox 14"/>
          <p:cNvSpPr txBox="1"/>
          <p:nvPr/>
        </p:nvSpPr>
        <p:spPr>
          <a:xfrm>
            <a:off x="822960" y="5120640"/>
            <a:ext cx="10515600" cy="365760"/>
          </a:xfrm>
          <a:prstGeom prst="rect">
            <a:avLst/>
          </a:prstGeom>
          <a:noFill/>
        </p:spPr>
        <p:txBody>
          <a:bodyPr wrap="square" lIns="0" rIns="0" tIns="0" bIns="0" anchor="t">
            <a:spAutoFit/>
          </a:bodyPr>
          <a:lstStyle/>
          <a:p>
            <a:pPr algn="l"/>
            <a:r>
              <a:rPr sz="1700" b="1" i="0">
                <a:solidFill>
                  <a:srgbClr val="1B2A3A"/>
                </a:solidFill>
                <a:latin typeface="Helvetica"/>
              </a:rPr>
              <a:t>Each drawn case = 15 minutes</a:t>
            </a:r>
          </a:p>
        </p:txBody>
      </p:sp>
      <p:sp>
        <p:nvSpPr>
          <p:cNvPr id="16" name="TextBox 15"/>
          <p:cNvSpPr txBox="1"/>
          <p:nvPr/>
        </p:nvSpPr>
        <p:spPr>
          <a:xfrm>
            <a:off x="822960" y="5504688"/>
            <a:ext cx="10515600" cy="548640"/>
          </a:xfrm>
          <a:prstGeom prst="rect">
            <a:avLst/>
          </a:prstGeom>
          <a:noFill/>
        </p:spPr>
        <p:txBody>
          <a:bodyPr wrap="square" lIns="0" rIns="0" tIns="0" bIns="0" anchor="t">
            <a:spAutoFit/>
          </a:bodyPr>
          <a:lstStyle/>
          <a:p>
            <a:pPr algn="l">
              <a:lnSpc>
                <a:spcPct val="130000"/>
              </a:lnSpc>
            </a:pPr>
            <a:r>
              <a:rPr sz="1150" b="0" i="0">
                <a:solidFill>
                  <a:srgbClr val="5A6672"/>
                </a:solidFill>
                <a:latin typeface="Helvetica"/>
              </a:rPr>
              <a:t>8 minutes at the small-group table (3-3-2), then 7 minutes in plenary with the whole room.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FOR EVERY CASE, EVERY GROUP</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One case, 15 minutes, two phases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65960"/>
            <a:ext cx="5486400" cy="320040"/>
          </a:xfrm>
          <a:prstGeom prst="rect">
            <a:avLst/>
          </a:prstGeom>
          <a:noFill/>
        </p:spPr>
        <p:txBody>
          <a:bodyPr wrap="square" lIns="0" rIns="0" tIns="0" bIns="0" anchor="t">
            <a:spAutoFit/>
          </a:bodyPr>
          <a:lstStyle/>
          <a:p>
            <a:pPr algn="l"/>
            <a:r>
              <a:rPr sz="1050" b="1" i="0">
                <a:solidFill>
                  <a:srgbClr val="0A4E4E"/>
                </a:solidFill>
                <a:latin typeface="Helvetica"/>
              </a:rPr>
              <a:t>SMALL GROUP · 8 MIN · YOUR OWN TABLE</a:t>
            </a:r>
          </a:p>
        </p:txBody>
      </p:sp>
      <p:sp>
        <p:nvSpPr>
          <p:cNvPr id="6" name="Rounded Rectangle 5"/>
          <p:cNvSpPr/>
          <p:nvPr/>
        </p:nvSpPr>
        <p:spPr>
          <a:xfrm>
            <a:off x="548640" y="2377440"/>
            <a:ext cx="3657600" cy="1280160"/>
          </a:xfrm>
          <a:prstGeom prst="roundRect">
            <a:avLst>
              <a:gd name="adj" fmla="val 8000"/>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68880"/>
            <a:ext cx="3657600" cy="457200"/>
          </a:xfrm>
          <a:prstGeom prst="rect">
            <a:avLst/>
          </a:prstGeom>
          <a:noFill/>
        </p:spPr>
        <p:txBody>
          <a:bodyPr wrap="square" lIns="0" rIns="0" tIns="0" bIns="0" anchor="t">
            <a:spAutoFit/>
          </a:bodyPr>
          <a:lstStyle/>
          <a:p>
            <a:pPr algn="l"/>
            <a:r>
              <a:rPr sz="3000" b="1" i="0">
                <a:solidFill>
                  <a:srgbClr val="FFFFFF"/>
                </a:solidFill>
                <a:latin typeface="Helvetica"/>
              </a:rPr>
              <a:t>3</a:t>
            </a:r>
          </a:p>
        </p:txBody>
      </p:sp>
      <p:sp>
        <p:nvSpPr>
          <p:cNvPr id="8" name="TextBox 7"/>
          <p:cNvSpPr txBox="1"/>
          <p:nvPr/>
        </p:nvSpPr>
        <p:spPr>
          <a:xfrm>
            <a:off x="731520" y="2971800"/>
            <a:ext cx="3657600" cy="365760"/>
          </a:xfrm>
          <a:prstGeom prst="rect">
            <a:avLst/>
          </a:prstGeom>
          <a:noFill/>
        </p:spPr>
        <p:txBody>
          <a:bodyPr wrap="square" lIns="0" rIns="0" tIns="0" bIns="0" anchor="t">
            <a:spAutoFit/>
          </a:bodyPr>
          <a:lstStyle/>
          <a:p>
            <a:pPr algn="l"/>
            <a:r>
              <a:rPr sz="1400" b="1" i="0">
                <a:solidFill>
                  <a:srgbClr val="FFFFFF"/>
                </a:solidFill>
                <a:latin typeface="Helvetica"/>
              </a:rPr>
              <a:t>Interpret</a:t>
            </a:r>
          </a:p>
        </p:txBody>
      </p:sp>
      <p:sp>
        <p:nvSpPr>
          <p:cNvPr id="9" name="TextBox 8"/>
          <p:cNvSpPr txBox="1"/>
          <p:nvPr/>
        </p:nvSpPr>
        <p:spPr>
          <a:xfrm>
            <a:off x="731520" y="3337560"/>
            <a:ext cx="3291840" cy="548640"/>
          </a:xfrm>
          <a:prstGeom prst="rect">
            <a:avLst/>
          </a:prstGeom>
          <a:noFill/>
        </p:spPr>
        <p:txBody>
          <a:bodyPr wrap="square" lIns="0" rIns="0" tIns="0" bIns="0" anchor="t">
            <a:spAutoFit/>
          </a:bodyPr>
          <a:lstStyle/>
          <a:p>
            <a:pPr algn="l">
              <a:lnSpc>
                <a:spcPct val="120000"/>
              </a:lnSpc>
            </a:pPr>
            <a:r>
              <a:rPr sz="1000" b="0" i="0">
                <a:solidFill>
                  <a:srgbClr val="F4F6F8"/>
                </a:solidFill>
                <a:latin typeface="Helvetica"/>
              </a:rPr>
              <a:t>Team works alone, in silence</a:t>
            </a:r>
          </a:p>
        </p:txBody>
      </p:sp>
      <p:sp>
        <p:nvSpPr>
          <p:cNvPr id="10" name="Rounded Rectangle 9"/>
          <p:cNvSpPr/>
          <p:nvPr/>
        </p:nvSpPr>
        <p:spPr>
          <a:xfrm>
            <a:off x="4343400" y="2377440"/>
            <a:ext cx="3657600" cy="1280160"/>
          </a:xfrm>
          <a:prstGeom prst="roundRect">
            <a:avLst>
              <a:gd name="adj" fmla="val 8000"/>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468880"/>
            <a:ext cx="3657600" cy="457200"/>
          </a:xfrm>
          <a:prstGeom prst="rect">
            <a:avLst/>
          </a:prstGeom>
          <a:noFill/>
        </p:spPr>
        <p:txBody>
          <a:bodyPr wrap="square" lIns="0" rIns="0" tIns="0" bIns="0" anchor="t">
            <a:spAutoFit/>
          </a:bodyPr>
          <a:lstStyle/>
          <a:p>
            <a:pPr algn="l"/>
            <a:r>
              <a:rPr sz="3000" b="1" i="0">
                <a:solidFill>
                  <a:srgbClr val="FFFFFF"/>
                </a:solidFill>
                <a:latin typeface="Helvetica"/>
              </a:rPr>
              <a:t>3</a:t>
            </a:r>
          </a:p>
        </p:txBody>
      </p:sp>
      <p:sp>
        <p:nvSpPr>
          <p:cNvPr id="12" name="TextBox 11"/>
          <p:cNvSpPr txBox="1"/>
          <p:nvPr/>
        </p:nvSpPr>
        <p:spPr>
          <a:xfrm>
            <a:off x="4526280" y="2971800"/>
            <a:ext cx="3657600" cy="365760"/>
          </a:xfrm>
          <a:prstGeom prst="rect">
            <a:avLst/>
          </a:prstGeom>
          <a:noFill/>
        </p:spPr>
        <p:txBody>
          <a:bodyPr wrap="square" lIns="0" rIns="0" tIns="0" bIns="0" anchor="t">
            <a:spAutoFit/>
          </a:bodyPr>
          <a:lstStyle/>
          <a:p>
            <a:pPr algn="l"/>
            <a:r>
              <a:rPr sz="1400" b="1" i="0">
                <a:solidFill>
                  <a:srgbClr val="FFFFFF"/>
                </a:solidFill>
                <a:latin typeface="Helvetica"/>
              </a:rPr>
              <a:t>Discuss</a:t>
            </a:r>
          </a:p>
        </p:txBody>
      </p:sp>
      <p:sp>
        <p:nvSpPr>
          <p:cNvPr id="13" name="TextBox 12"/>
          <p:cNvSpPr txBox="1"/>
          <p:nvPr/>
        </p:nvSpPr>
        <p:spPr>
          <a:xfrm>
            <a:off x="4526280" y="3337560"/>
            <a:ext cx="3291840" cy="548640"/>
          </a:xfrm>
          <a:prstGeom prst="rect">
            <a:avLst/>
          </a:prstGeom>
          <a:noFill/>
        </p:spPr>
        <p:txBody>
          <a:bodyPr wrap="square" lIns="0" rIns="0" tIns="0" bIns="0" anchor="t">
            <a:spAutoFit/>
          </a:bodyPr>
          <a:lstStyle/>
          <a:p>
            <a:pPr algn="l">
              <a:lnSpc>
                <a:spcPct val="120000"/>
              </a:lnSpc>
            </a:pPr>
            <a:r>
              <a:rPr sz="1000" b="0" i="0">
                <a:solidFill>
                  <a:srgbClr val="F4F6F8"/>
                </a:solidFill>
                <a:latin typeface="Helvetica"/>
              </a:rPr>
              <a:t>Faculty-mediated, at your table</a:t>
            </a:r>
          </a:p>
        </p:txBody>
      </p:sp>
      <p:sp>
        <p:nvSpPr>
          <p:cNvPr id="14" name="Rounded Rectangle 13"/>
          <p:cNvSpPr/>
          <p:nvPr/>
        </p:nvSpPr>
        <p:spPr>
          <a:xfrm>
            <a:off x="8138160" y="2377440"/>
            <a:ext cx="3657600" cy="1280160"/>
          </a:xfrm>
          <a:prstGeom prst="roundRect">
            <a:avLst>
              <a:gd name="adj" fmla="val 8000"/>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468880"/>
            <a:ext cx="3657600" cy="457200"/>
          </a:xfrm>
          <a:prstGeom prst="rect">
            <a:avLst/>
          </a:prstGeom>
          <a:noFill/>
        </p:spPr>
        <p:txBody>
          <a:bodyPr wrap="square" lIns="0" rIns="0" tIns="0" bIns="0" anchor="t">
            <a:spAutoFit/>
          </a:bodyPr>
          <a:lstStyle/>
          <a:p>
            <a:pPr algn="l"/>
            <a:r>
              <a:rPr sz="3000" b="1" i="0">
                <a:solidFill>
                  <a:srgbClr val="FFFFFF"/>
                </a:solidFill>
                <a:latin typeface="Helvetica"/>
              </a:rPr>
              <a:t>2</a:t>
            </a:r>
          </a:p>
        </p:txBody>
      </p:sp>
      <p:sp>
        <p:nvSpPr>
          <p:cNvPr id="16" name="TextBox 15"/>
          <p:cNvSpPr txBox="1"/>
          <p:nvPr/>
        </p:nvSpPr>
        <p:spPr>
          <a:xfrm>
            <a:off x="8321040" y="2971800"/>
            <a:ext cx="3657600" cy="365760"/>
          </a:xfrm>
          <a:prstGeom prst="rect">
            <a:avLst/>
          </a:prstGeom>
          <a:noFill/>
        </p:spPr>
        <p:txBody>
          <a:bodyPr wrap="square" lIns="0" rIns="0" tIns="0" bIns="0" anchor="t">
            <a:spAutoFit/>
          </a:bodyPr>
          <a:lstStyle/>
          <a:p>
            <a:pPr algn="l"/>
            <a:r>
              <a:rPr sz="1400" b="1" i="0">
                <a:solidFill>
                  <a:srgbClr val="FFFFFF"/>
                </a:solidFill>
                <a:latin typeface="Helvetica"/>
              </a:rPr>
              <a:t>Synthesise</a:t>
            </a:r>
          </a:p>
        </p:txBody>
      </p:sp>
      <p:sp>
        <p:nvSpPr>
          <p:cNvPr id="17" name="TextBox 16"/>
          <p:cNvSpPr txBox="1"/>
          <p:nvPr/>
        </p:nvSpPr>
        <p:spPr>
          <a:xfrm>
            <a:off x="8321040" y="3337560"/>
            <a:ext cx="3291840" cy="548640"/>
          </a:xfrm>
          <a:prstGeom prst="rect">
            <a:avLst/>
          </a:prstGeom>
          <a:noFill/>
        </p:spPr>
        <p:txBody>
          <a:bodyPr wrap="square" lIns="0" rIns="0" tIns="0" bIns="0" anchor="t">
            <a:spAutoFit/>
          </a:bodyPr>
          <a:lstStyle/>
          <a:p>
            <a:pPr algn="l">
              <a:lnSpc>
                <a:spcPct val="120000"/>
              </a:lnSpc>
            </a:pPr>
            <a:r>
              <a:rPr sz="1000" b="0" i="0">
                <a:solidFill>
                  <a:srgbClr val="F4F6F8"/>
                </a:solidFill>
                <a:latin typeface="Helvetica"/>
              </a:rPr>
              <a:t>Faculty closes for your table</a:t>
            </a:r>
          </a:p>
        </p:txBody>
      </p:sp>
      <p:sp>
        <p:nvSpPr>
          <p:cNvPr id="18" name="TextBox 17"/>
          <p:cNvSpPr txBox="1"/>
          <p:nvPr/>
        </p:nvSpPr>
        <p:spPr>
          <a:xfrm>
            <a:off x="548640" y="3886200"/>
            <a:ext cx="5486400" cy="320040"/>
          </a:xfrm>
          <a:prstGeom prst="rect">
            <a:avLst/>
          </a:prstGeom>
          <a:noFill/>
        </p:spPr>
        <p:txBody>
          <a:bodyPr wrap="square" lIns="0" rIns="0" tIns="0" bIns="0" anchor="t">
            <a:spAutoFit/>
          </a:bodyPr>
          <a:lstStyle/>
          <a:p>
            <a:pPr algn="l"/>
            <a:r>
              <a:rPr sz="1050" b="1" i="0">
                <a:solidFill>
                  <a:srgbClr val="B8892B"/>
                </a:solidFill>
                <a:latin typeface="Helvetica"/>
              </a:rPr>
              <a:t>PLENARY · 7 MIN · WHOLE ROOM, LED BY MODERATOR</a:t>
            </a:r>
          </a:p>
        </p:txBody>
      </p:sp>
      <p:sp>
        <p:nvSpPr>
          <p:cNvPr id="19" name="Rounded Rectangle 18"/>
          <p:cNvSpPr/>
          <p:nvPr/>
        </p:nvSpPr>
        <p:spPr>
          <a:xfrm>
            <a:off x="548640" y="4297680"/>
            <a:ext cx="3657600" cy="1280160"/>
          </a:xfrm>
          <a:prstGeom prst="roundRect">
            <a:avLst>
              <a:gd name="adj" fmla="val 8000"/>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389120"/>
            <a:ext cx="3657600" cy="457200"/>
          </a:xfrm>
          <a:prstGeom prst="rect">
            <a:avLst/>
          </a:prstGeom>
          <a:noFill/>
        </p:spPr>
        <p:txBody>
          <a:bodyPr wrap="square" lIns="0" rIns="0" tIns="0" bIns="0" anchor="t">
            <a:spAutoFit/>
          </a:bodyPr>
          <a:lstStyle/>
          <a:p>
            <a:pPr algn="l"/>
            <a:r>
              <a:rPr sz="3000" b="1" i="0">
                <a:solidFill>
                  <a:srgbClr val="FFFFFF"/>
                </a:solidFill>
                <a:latin typeface="Helvetica"/>
              </a:rPr>
              <a:t>3</a:t>
            </a:r>
          </a:p>
        </p:txBody>
      </p:sp>
      <p:sp>
        <p:nvSpPr>
          <p:cNvPr id="21" name="TextBox 20"/>
          <p:cNvSpPr txBox="1"/>
          <p:nvPr/>
        </p:nvSpPr>
        <p:spPr>
          <a:xfrm>
            <a:off x="731520" y="4892040"/>
            <a:ext cx="3657600" cy="365760"/>
          </a:xfrm>
          <a:prstGeom prst="rect">
            <a:avLst/>
          </a:prstGeom>
          <a:noFill/>
        </p:spPr>
        <p:txBody>
          <a:bodyPr wrap="square" lIns="0" rIns="0" tIns="0" bIns="0" anchor="t">
            <a:spAutoFit/>
          </a:bodyPr>
          <a:lstStyle/>
          <a:p>
            <a:pPr algn="l"/>
            <a:r>
              <a:rPr sz="1400" b="1" i="0">
                <a:solidFill>
                  <a:srgbClr val="FFFFFF"/>
                </a:solidFill>
                <a:latin typeface="Helvetica"/>
              </a:rPr>
              <a:t>Random draw</a:t>
            </a:r>
          </a:p>
        </p:txBody>
      </p:sp>
      <p:sp>
        <p:nvSpPr>
          <p:cNvPr id="22" name="TextBox 21"/>
          <p:cNvSpPr txBox="1"/>
          <p:nvPr/>
        </p:nvSpPr>
        <p:spPr>
          <a:xfrm>
            <a:off x="731520" y="5257800"/>
            <a:ext cx="3291840" cy="548640"/>
          </a:xfrm>
          <a:prstGeom prst="rect">
            <a:avLst/>
          </a:prstGeom>
          <a:noFill/>
        </p:spPr>
        <p:txBody>
          <a:bodyPr wrap="square" lIns="0" rIns="0" tIns="0" bIns="0" anchor="t">
            <a:spAutoFit/>
          </a:bodyPr>
          <a:lstStyle/>
          <a:p>
            <a:pPr algn="l">
              <a:lnSpc>
                <a:spcPct val="120000"/>
              </a:lnSpc>
            </a:pPr>
            <a:r>
              <a:rPr sz="1000" b="0" i="0">
                <a:solidFill>
                  <a:srgbClr val="FBF7EC"/>
                </a:solidFill>
                <a:latin typeface="Helvetica"/>
              </a:rPr>
              <a:t>One group presents to all</a:t>
            </a:r>
          </a:p>
        </p:txBody>
      </p:sp>
      <p:sp>
        <p:nvSpPr>
          <p:cNvPr id="23" name="Rounded Rectangle 22"/>
          <p:cNvSpPr/>
          <p:nvPr/>
        </p:nvSpPr>
        <p:spPr>
          <a:xfrm>
            <a:off x="4343400" y="4297680"/>
            <a:ext cx="3657600" cy="1280160"/>
          </a:xfrm>
          <a:prstGeom prst="roundRect">
            <a:avLst>
              <a:gd name="adj" fmla="val 8000"/>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4389120"/>
            <a:ext cx="3657600" cy="457200"/>
          </a:xfrm>
          <a:prstGeom prst="rect">
            <a:avLst/>
          </a:prstGeom>
          <a:noFill/>
        </p:spPr>
        <p:txBody>
          <a:bodyPr wrap="square" lIns="0" rIns="0" tIns="0" bIns="0" anchor="t">
            <a:spAutoFit/>
          </a:bodyPr>
          <a:lstStyle/>
          <a:p>
            <a:pPr algn="l"/>
            <a:r>
              <a:rPr sz="3000" b="1" i="0">
                <a:solidFill>
                  <a:srgbClr val="FFFFFF"/>
                </a:solidFill>
                <a:latin typeface="Helvetica"/>
              </a:rPr>
              <a:t>3</a:t>
            </a:r>
          </a:p>
        </p:txBody>
      </p:sp>
      <p:sp>
        <p:nvSpPr>
          <p:cNvPr id="25" name="TextBox 24"/>
          <p:cNvSpPr txBox="1"/>
          <p:nvPr/>
        </p:nvSpPr>
        <p:spPr>
          <a:xfrm>
            <a:off x="4526280" y="4892040"/>
            <a:ext cx="3657600" cy="365760"/>
          </a:xfrm>
          <a:prstGeom prst="rect">
            <a:avLst/>
          </a:prstGeom>
          <a:noFill/>
        </p:spPr>
        <p:txBody>
          <a:bodyPr wrap="square" lIns="0" rIns="0" tIns="0" bIns="0" anchor="t">
            <a:spAutoFit/>
          </a:bodyPr>
          <a:lstStyle/>
          <a:p>
            <a:pPr algn="l"/>
            <a:r>
              <a:rPr sz="1400" b="1" i="0">
                <a:solidFill>
                  <a:srgbClr val="FFFFFF"/>
                </a:solidFill>
                <a:latin typeface="Helvetica"/>
              </a:rPr>
              <a:t>Expert comment</a:t>
            </a:r>
          </a:p>
        </p:txBody>
      </p:sp>
      <p:sp>
        <p:nvSpPr>
          <p:cNvPr id="26" name="TextBox 25"/>
          <p:cNvSpPr txBox="1"/>
          <p:nvPr/>
        </p:nvSpPr>
        <p:spPr>
          <a:xfrm>
            <a:off x="4526280" y="5257800"/>
            <a:ext cx="3291840" cy="548640"/>
          </a:xfrm>
          <a:prstGeom prst="rect">
            <a:avLst/>
          </a:prstGeom>
          <a:noFill/>
        </p:spPr>
        <p:txBody>
          <a:bodyPr wrap="square" lIns="0" rIns="0" tIns="0" bIns="0" anchor="t">
            <a:spAutoFit/>
          </a:bodyPr>
          <a:lstStyle/>
          <a:p>
            <a:pPr algn="l">
              <a:lnSpc>
                <a:spcPct val="120000"/>
              </a:lnSpc>
            </a:pPr>
            <a:r>
              <a:rPr sz="1000" b="0" i="0">
                <a:solidFill>
                  <a:srgbClr val="FBF7EC"/>
                </a:solidFill>
                <a:latin typeface="Helvetica"/>
              </a:rPr>
              <a:t>Case questions, answered live</a:t>
            </a:r>
          </a:p>
        </p:txBody>
      </p:sp>
      <p:sp>
        <p:nvSpPr>
          <p:cNvPr id="27" name="Rounded Rectangle 26"/>
          <p:cNvSpPr/>
          <p:nvPr/>
        </p:nvSpPr>
        <p:spPr>
          <a:xfrm>
            <a:off x="8138160" y="4297680"/>
            <a:ext cx="3657600" cy="1280160"/>
          </a:xfrm>
          <a:prstGeom prst="roundRect">
            <a:avLst>
              <a:gd name="adj" fmla="val 8000"/>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4389120"/>
            <a:ext cx="3657600" cy="457200"/>
          </a:xfrm>
          <a:prstGeom prst="rect">
            <a:avLst/>
          </a:prstGeom>
          <a:noFill/>
        </p:spPr>
        <p:txBody>
          <a:bodyPr wrap="square" lIns="0" rIns="0" tIns="0" bIns="0" anchor="t">
            <a:spAutoFit/>
          </a:bodyPr>
          <a:lstStyle/>
          <a:p>
            <a:pPr algn="l"/>
            <a:r>
              <a:rPr sz="3000" b="1" i="0">
                <a:solidFill>
                  <a:srgbClr val="FFFFFF"/>
                </a:solidFill>
                <a:latin typeface="Helvetica"/>
              </a:rPr>
              <a:t>2</a:t>
            </a:r>
          </a:p>
        </p:txBody>
      </p:sp>
      <p:sp>
        <p:nvSpPr>
          <p:cNvPr id="29" name="TextBox 28"/>
          <p:cNvSpPr txBox="1"/>
          <p:nvPr/>
        </p:nvSpPr>
        <p:spPr>
          <a:xfrm>
            <a:off x="8321040" y="4892040"/>
            <a:ext cx="3657600" cy="365760"/>
          </a:xfrm>
          <a:prstGeom prst="rect">
            <a:avLst/>
          </a:prstGeom>
          <a:noFill/>
        </p:spPr>
        <p:txBody>
          <a:bodyPr wrap="square" lIns="0" rIns="0" tIns="0" bIns="0" anchor="t">
            <a:spAutoFit/>
          </a:bodyPr>
          <a:lstStyle/>
          <a:p>
            <a:pPr algn="l"/>
            <a:r>
              <a:rPr sz="1400" b="1" i="0">
                <a:solidFill>
                  <a:srgbClr val="FFFFFF"/>
                </a:solidFill>
                <a:latin typeface="Helvetica"/>
              </a:rPr>
              <a:t>Take-home</a:t>
            </a:r>
          </a:p>
        </p:txBody>
      </p:sp>
      <p:sp>
        <p:nvSpPr>
          <p:cNvPr id="30" name="TextBox 29"/>
          <p:cNvSpPr txBox="1"/>
          <p:nvPr/>
        </p:nvSpPr>
        <p:spPr>
          <a:xfrm>
            <a:off x="8321040" y="5257800"/>
            <a:ext cx="3291840" cy="548640"/>
          </a:xfrm>
          <a:prstGeom prst="rect">
            <a:avLst/>
          </a:prstGeom>
          <a:noFill/>
        </p:spPr>
        <p:txBody>
          <a:bodyPr wrap="square" lIns="0" rIns="0" tIns="0" bIns="0" anchor="t">
            <a:spAutoFit/>
          </a:bodyPr>
          <a:lstStyle/>
          <a:p>
            <a:pPr algn="l">
              <a:lnSpc>
                <a:spcPct val="120000"/>
              </a:lnSpc>
            </a:pPr>
            <a:r>
              <a:rPr sz="1000" b="0" i="0">
                <a:solidFill>
                  <a:srgbClr val="FBF7EC"/>
                </a:solidFill>
                <a:latin typeface="Helvetica"/>
              </a:rPr>
              <a:t>One pearl, whole room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TWO PHASES, TWO FACILITATORS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Who does what</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65960"/>
            <a:ext cx="5486400" cy="41148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137160" cy="411480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48840"/>
            <a:ext cx="5029200" cy="365760"/>
          </a:xfrm>
          <a:prstGeom prst="rect">
            <a:avLst/>
          </a:prstGeom>
          <a:noFill/>
        </p:spPr>
        <p:txBody>
          <a:bodyPr wrap="square" lIns="0" rIns="0" tIns="0" bIns="0" anchor="t">
            <a:spAutoFit/>
          </a:bodyPr>
          <a:lstStyle/>
          <a:p>
            <a:pPr algn="l"/>
            <a:r>
              <a:rPr sz="1050" b="1" i="0">
                <a:solidFill>
                  <a:srgbClr val="0F6E6E"/>
                </a:solidFill>
                <a:latin typeface="Helvetica"/>
              </a:rPr>
              <a:t>GROUP FACULTY · SMALL-GROUP PHASE</a:t>
            </a:r>
          </a:p>
        </p:txBody>
      </p:sp>
      <p:sp>
        <p:nvSpPr>
          <p:cNvPr id="8" name="TextBox 7"/>
          <p:cNvSpPr txBox="1"/>
          <p:nvPr/>
        </p:nvSpPr>
        <p:spPr>
          <a:xfrm>
            <a:off x="868680" y="2697480"/>
            <a:ext cx="5029200" cy="320040"/>
          </a:xfrm>
          <a:prstGeom prst="rect">
            <a:avLst/>
          </a:prstGeom>
          <a:noFill/>
        </p:spPr>
        <p:txBody>
          <a:bodyPr wrap="square" lIns="0" rIns="0" tIns="0" bIns="0" anchor="t">
            <a:spAutoFit/>
          </a:bodyPr>
          <a:lstStyle/>
          <a:p>
            <a:pPr algn="l"/>
            <a:r>
              <a:rPr sz="1350" b="1" i="0">
                <a:solidFill>
                  <a:srgbClr val="1B2A3A"/>
                </a:solidFill>
                <a:latin typeface="Helvetica"/>
              </a:rPr>
              <a:t>During interpret</a:t>
            </a:r>
          </a:p>
        </p:txBody>
      </p:sp>
      <p:sp>
        <p:nvSpPr>
          <p:cNvPr id="9" name="TextBox 8"/>
          <p:cNvSpPr txBox="1"/>
          <p:nvPr/>
        </p:nvSpPr>
        <p:spPr>
          <a:xfrm>
            <a:off x="868680" y="3044952"/>
            <a:ext cx="5029200" cy="731520"/>
          </a:xfrm>
          <a:prstGeom prst="rect">
            <a:avLst/>
          </a:prstGeom>
          <a:noFill/>
        </p:spPr>
        <p:txBody>
          <a:bodyPr wrap="square" lIns="0" rIns="0" tIns="0" bIns="0" anchor="t">
            <a:spAutoFit/>
          </a:bodyPr>
          <a:lstStyle/>
          <a:p>
            <a:pPr algn="l">
              <a:lnSpc>
                <a:spcPct val="135000"/>
              </a:lnSpc>
            </a:pPr>
            <a:r>
              <a:rPr sz="1100" b="0" i="0">
                <a:solidFill>
                  <a:srgbClr val="5A6672"/>
                </a:solidFill>
                <a:latin typeface="Helvetica"/>
              </a:rPr>
              <a:t>Say nothing. Circulate silently and note where the group is stuck.</a:t>
            </a:r>
          </a:p>
        </p:txBody>
      </p:sp>
      <p:sp>
        <p:nvSpPr>
          <p:cNvPr id="10" name="TextBox 9"/>
          <p:cNvSpPr txBox="1"/>
          <p:nvPr/>
        </p:nvSpPr>
        <p:spPr>
          <a:xfrm>
            <a:off x="868680" y="3749040"/>
            <a:ext cx="5029200" cy="320040"/>
          </a:xfrm>
          <a:prstGeom prst="rect">
            <a:avLst/>
          </a:prstGeom>
          <a:noFill/>
        </p:spPr>
        <p:txBody>
          <a:bodyPr wrap="square" lIns="0" rIns="0" tIns="0" bIns="0" anchor="t">
            <a:spAutoFit/>
          </a:bodyPr>
          <a:lstStyle/>
          <a:p>
            <a:pPr algn="l"/>
            <a:r>
              <a:rPr sz="1350" b="1" i="0">
                <a:solidFill>
                  <a:srgbClr val="1B2A3A"/>
                </a:solidFill>
                <a:latin typeface="Helvetica"/>
              </a:rPr>
              <a:t>During discuss</a:t>
            </a:r>
          </a:p>
        </p:txBody>
      </p:sp>
      <p:sp>
        <p:nvSpPr>
          <p:cNvPr id="11" name="TextBox 10"/>
          <p:cNvSpPr txBox="1"/>
          <p:nvPr/>
        </p:nvSpPr>
        <p:spPr>
          <a:xfrm>
            <a:off x="868680" y="4096512"/>
            <a:ext cx="5029200" cy="731520"/>
          </a:xfrm>
          <a:prstGeom prst="rect">
            <a:avLst/>
          </a:prstGeom>
          <a:noFill/>
        </p:spPr>
        <p:txBody>
          <a:bodyPr wrap="square" lIns="0" rIns="0" tIns="0" bIns="0" anchor="t">
            <a:spAutoFit/>
          </a:bodyPr>
          <a:lstStyle/>
          <a:p>
            <a:pPr algn="l">
              <a:lnSpc>
                <a:spcPct val="135000"/>
              </a:lnSpc>
            </a:pPr>
            <a:r>
              <a:rPr sz="1100" b="0" i="0">
                <a:solidFill>
                  <a:srgbClr val="5A6672"/>
                </a:solidFill>
                <a:latin typeface="Helvetica"/>
              </a:rPr>
              <a:t>Ask before telling — "what did you get, and why" comes first.</a:t>
            </a:r>
          </a:p>
        </p:txBody>
      </p:sp>
      <p:sp>
        <p:nvSpPr>
          <p:cNvPr id="12" name="TextBox 11"/>
          <p:cNvSpPr txBox="1"/>
          <p:nvPr/>
        </p:nvSpPr>
        <p:spPr>
          <a:xfrm>
            <a:off x="868680" y="4800600"/>
            <a:ext cx="5029200" cy="320040"/>
          </a:xfrm>
          <a:prstGeom prst="rect">
            <a:avLst/>
          </a:prstGeom>
          <a:noFill/>
        </p:spPr>
        <p:txBody>
          <a:bodyPr wrap="square" lIns="0" rIns="0" tIns="0" bIns="0" anchor="t">
            <a:spAutoFit/>
          </a:bodyPr>
          <a:lstStyle/>
          <a:p>
            <a:pPr algn="l"/>
            <a:r>
              <a:rPr sz="1350" b="1" i="0">
                <a:solidFill>
                  <a:srgbClr val="1B2A3A"/>
                </a:solidFill>
                <a:latin typeface="Helvetica"/>
              </a:rPr>
              <a:t>During synthesis</a:t>
            </a:r>
          </a:p>
        </p:txBody>
      </p:sp>
      <p:sp>
        <p:nvSpPr>
          <p:cNvPr id="13" name="TextBox 12"/>
          <p:cNvSpPr txBox="1"/>
          <p:nvPr/>
        </p:nvSpPr>
        <p:spPr>
          <a:xfrm>
            <a:off x="868680" y="5148072"/>
            <a:ext cx="5029200" cy="731520"/>
          </a:xfrm>
          <a:prstGeom prst="rect">
            <a:avLst/>
          </a:prstGeom>
          <a:noFill/>
        </p:spPr>
        <p:txBody>
          <a:bodyPr wrap="square" lIns="0" rIns="0" tIns="0" bIns="0" anchor="t">
            <a:spAutoFit/>
          </a:bodyPr>
          <a:lstStyle/>
          <a:p>
            <a:pPr algn="l">
              <a:lnSpc>
                <a:spcPct val="135000"/>
              </a:lnSpc>
            </a:pPr>
            <a:r>
              <a:rPr sz="1100" b="0" i="0">
                <a:solidFill>
                  <a:srgbClr val="5A6672"/>
                </a:solidFill>
                <a:latin typeface="Helvetica"/>
              </a:rPr>
              <a:t>One tight paragraph: the diagnosis and the one teaching point for your table.</a:t>
            </a:r>
          </a:p>
        </p:txBody>
      </p:sp>
      <p:sp>
        <p:nvSpPr>
          <p:cNvPr id="14" name="Rounded Rectangle 13"/>
          <p:cNvSpPr/>
          <p:nvPr/>
        </p:nvSpPr>
        <p:spPr>
          <a:xfrm>
            <a:off x="6400800" y="1965960"/>
            <a:ext cx="5486400" cy="41148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965960"/>
            <a:ext cx="137160" cy="411480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148840"/>
            <a:ext cx="5029200" cy="365760"/>
          </a:xfrm>
          <a:prstGeom prst="rect">
            <a:avLst/>
          </a:prstGeom>
          <a:noFill/>
        </p:spPr>
        <p:txBody>
          <a:bodyPr wrap="square" lIns="0" rIns="0" tIns="0" bIns="0" anchor="t">
            <a:spAutoFit/>
          </a:bodyPr>
          <a:lstStyle/>
          <a:p>
            <a:pPr algn="l"/>
            <a:r>
              <a:rPr sz="1050" b="1" i="0">
                <a:solidFill>
                  <a:srgbClr val="B8892B"/>
                </a:solidFill>
                <a:latin typeface="Helvetica"/>
              </a:rPr>
              <a:t>MODERATOR · PLENARY PHASE</a:t>
            </a:r>
          </a:p>
        </p:txBody>
      </p:sp>
      <p:sp>
        <p:nvSpPr>
          <p:cNvPr id="17" name="TextBox 16"/>
          <p:cNvSpPr txBox="1"/>
          <p:nvPr/>
        </p:nvSpPr>
        <p:spPr>
          <a:xfrm>
            <a:off x="6720840" y="2697480"/>
            <a:ext cx="5029200" cy="320040"/>
          </a:xfrm>
          <a:prstGeom prst="rect">
            <a:avLst/>
          </a:prstGeom>
          <a:noFill/>
        </p:spPr>
        <p:txBody>
          <a:bodyPr wrap="square" lIns="0" rIns="0" tIns="0" bIns="0" anchor="t">
            <a:spAutoFit/>
          </a:bodyPr>
          <a:lstStyle/>
          <a:p>
            <a:pPr algn="l"/>
            <a:r>
              <a:rPr sz="1350" b="1" i="0">
                <a:solidFill>
                  <a:srgbClr val="1B2A3A"/>
                </a:solidFill>
                <a:latin typeface="Helvetica"/>
              </a:rPr>
              <a:t>Random draw</a:t>
            </a:r>
          </a:p>
        </p:txBody>
      </p:sp>
      <p:sp>
        <p:nvSpPr>
          <p:cNvPr id="18" name="TextBox 17"/>
          <p:cNvSpPr txBox="1"/>
          <p:nvPr/>
        </p:nvSpPr>
        <p:spPr>
          <a:xfrm>
            <a:off x="6720840" y="3044952"/>
            <a:ext cx="5029200" cy="731520"/>
          </a:xfrm>
          <a:prstGeom prst="rect">
            <a:avLst/>
          </a:prstGeom>
          <a:noFill/>
        </p:spPr>
        <p:txBody>
          <a:bodyPr wrap="square" lIns="0" rIns="0" tIns="0" bIns="0" anchor="t">
            <a:spAutoFit/>
          </a:bodyPr>
          <a:lstStyle/>
          <a:p>
            <a:pPr algn="l">
              <a:lnSpc>
                <a:spcPct val="135000"/>
              </a:lnSpc>
            </a:pPr>
            <a:r>
              <a:rPr sz="1100" b="0" i="0">
                <a:solidFill>
                  <a:srgbClr val="5A6672"/>
                </a:solidFill>
                <a:latin typeface="Helvetica"/>
              </a:rPr>
              <a:t>Pick one group, at random, to present to the whole room.</a:t>
            </a:r>
          </a:p>
        </p:txBody>
      </p:sp>
      <p:sp>
        <p:nvSpPr>
          <p:cNvPr id="19" name="TextBox 18"/>
          <p:cNvSpPr txBox="1"/>
          <p:nvPr/>
        </p:nvSpPr>
        <p:spPr>
          <a:xfrm>
            <a:off x="6720840" y="3749040"/>
            <a:ext cx="5029200" cy="320040"/>
          </a:xfrm>
          <a:prstGeom prst="rect">
            <a:avLst/>
          </a:prstGeom>
          <a:noFill/>
        </p:spPr>
        <p:txBody>
          <a:bodyPr wrap="square" lIns="0" rIns="0" tIns="0" bIns="0" anchor="t">
            <a:spAutoFit/>
          </a:bodyPr>
          <a:lstStyle/>
          <a:p>
            <a:pPr algn="l"/>
            <a:r>
              <a:rPr sz="1350" b="1" i="0">
                <a:solidFill>
                  <a:srgbClr val="1B2A3A"/>
                </a:solidFill>
                <a:latin typeface="Helvetica"/>
              </a:rPr>
              <a:t>Expert comment</a:t>
            </a:r>
          </a:p>
        </p:txBody>
      </p:sp>
      <p:sp>
        <p:nvSpPr>
          <p:cNvPr id="20" name="TextBox 19"/>
          <p:cNvSpPr txBox="1"/>
          <p:nvPr/>
        </p:nvSpPr>
        <p:spPr>
          <a:xfrm>
            <a:off x="6720840" y="4096512"/>
            <a:ext cx="5029200" cy="731520"/>
          </a:xfrm>
          <a:prstGeom prst="rect">
            <a:avLst/>
          </a:prstGeom>
          <a:noFill/>
        </p:spPr>
        <p:txBody>
          <a:bodyPr wrap="square" lIns="0" rIns="0" tIns="0" bIns="0" anchor="t">
            <a:spAutoFit/>
          </a:bodyPr>
          <a:lstStyle/>
          <a:p>
            <a:pPr algn="l">
              <a:lnSpc>
                <a:spcPct val="135000"/>
              </a:lnSpc>
            </a:pPr>
            <a:r>
              <a:rPr sz="1100" b="0" i="0">
                <a:solidFill>
                  <a:srgbClr val="5A6672"/>
                </a:solidFill>
                <a:latin typeface="Helvetica"/>
              </a:rPr>
              <a:t>Walk the case-specific questions with the authoritative answer.</a:t>
            </a:r>
          </a:p>
        </p:txBody>
      </p:sp>
      <p:sp>
        <p:nvSpPr>
          <p:cNvPr id="21" name="TextBox 20"/>
          <p:cNvSpPr txBox="1"/>
          <p:nvPr/>
        </p:nvSpPr>
        <p:spPr>
          <a:xfrm>
            <a:off x="6720840" y="4800600"/>
            <a:ext cx="5029200" cy="320040"/>
          </a:xfrm>
          <a:prstGeom prst="rect">
            <a:avLst/>
          </a:prstGeom>
          <a:noFill/>
        </p:spPr>
        <p:txBody>
          <a:bodyPr wrap="square" lIns="0" rIns="0" tIns="0" bIns="0" anchor="t">
            <a:spAutoFit/>
          </a:bodyPr>
          <a:lstStyle/>
          <a:p>
            <a:pPr algn="l"/>
            <a:r>
              <a:rPr sz="1350" b="1" i="0">
                <a:solidFill>
                  <a:srgbClr val="1B2A3A"/>
                </a:solidFill>
                <a:latin typeface="Helvetica"/>
              </a:rPr>
              <a:t>Take-home</a:t>
            </a:r>
          </a:p>
        </p:txBody>
      </p:sp>
      <p:sp>
        <p:nvSpPr>
          <p:cNvPr id="22" name="TextBox 21"/>
          <p:cNvSpPr txBox="1"/>
          <p:nvPr/>
        </p:nvSpPr>
        <p:spPr>
          <a:xfrm>
            <a:off x="6720840" y="5148072"/>
            <a:ext cx="5029200" cy="731520"/>
          </a:xfrm>
          <a:prstGeom prst="rect">
            <a:avLst/>
          </a:prstGeom>
          <a:noFill/>
        </p:spPr>
        <p:txBody>
          <a:bodyPr wrap="square" lIns="0" rIns="0" tIns="0" bIns="0" anchor="t">
            <a:spAutoFit/>
          </a:bodyPr>
          <a:lstStyle/>
          <a:p>
            <a:pPr algn="l">
              <a:lnSpc>
                <a:spcPct val="135000"/>
              </a:lnSpc>
            </a:pPr>
            <a:r>
              <a:rPr sz="1100" b="0" i="0">
                <a:solidFill>
                  <a:srgbClr val="5A6672"/>
                </a:solidFill>
                <a:latin typeface="Helvetica"/>
              </a:rPr>
              <a:t>Close with one pearl for everyone before the next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FACULTY ALLOCATION</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Moderator: Dr Narayanan and Dr Manju Kedarnath</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201168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G1</a:t>
            </a:r>
          </a:p>
        </p:txBody>
      </p:sp>
      <p:sp>
        <p:nvSpPr>
          <p:cNvPr id="7" name="Rectangle 6"/>
          <p:cNvSpPr/>
          <p:nvPr/>
        </p:nvSpPr>
        <p:spPr>
          <a:xfrm>
            <a:off x="1371600" y="201168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01168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Manju</a:t>
            </a:r>
          </a:p>
        </p:txBody>
      </p:sp>
      <p:sp>
        <p:nvSpPr>
          <p:cNvPr id="9" name="Rectangle 8"/>
          <p:cNvSpPr/>
          <p:nvPr/>
        </p:nvSpPr>
        <p:spPr>
          <a:xfrm>
            <a:off x="4251960" y="201168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201168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3</a:t>
            </a:r>
          </a:p>
        </p:txBody>
      </p:sp>
      <p:sp>
        <p:nvSpPr>
          <p:cNvPr id="11" name="Rectangle 10"/>
          <p:cNvSpPr/>
          <p:nvPr/>
        </p:nvSpPr>
        <p:spPr>
          <a:xfrm>
            <a:off x="5212080" y="201168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201168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AGE (Gastroenteritis)</a:t>
            </a:r>
          </a:p>
        </p:txBody>
      </p:sp>
      <p:sp>
        <p:nvSpPr>
          <p:cNvPr id="13" name="Rectangle 12"/>
          <p:cNvSpPr/>
          <p:nvPr/>
        </p:nvSpPr>
        <p:spPr>
          <a:xfrm>
            <a:off x="548640" y="251460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G2</a:t>
            </a:r>
          </a:p>
        </p:txBody>
      </p:sp>
      <p:sp>
        <p:nvSpPr>
          <p:cNvPr id="15" name="Rectangle 14"/>
          <p:cNvSpPr/>
          <p:nvPr/>
        </p:nvSpPr>
        <p:spPr>
          <a:xfrm>
            <a:off x="1371600" y="251460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251460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Shilpa</a:t>
            </a:r>
          </a:p>
        </p:txBody>
      </p:sp>
      <p:sp>
        <p:nvSpPr>
          <p:cNvPr id="17" name="Rectangle 16"/>
          <p:cNvSpPr/>
          <p:nvPr/>
        </p:nvSpPr>
        <p:spPr>
          <a:xfrm>
            <a:off x="4251960" y="251460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251460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6</a:t>
            </a:r>
          </a:p>
        </p:txBody>
      </p:sp>
      <p:sp>
        <p:nvSpPr>
          <p:cNvPr id="19" name="Rectangle 18"/>
          <p:cNvSpPr/>
          <p:nvPr/>
        </p:nvSpPr>
        <p:spPr>
          <a:xfrm>
            <a:off x="5212080" y="251460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49240" y="251460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Hanging (Post-arrest)</a:t>
            </a:r>
          </a:p>
        </p:txBody>
      </p:sp>
      <p:sp>
        <p:nvSpPr>
          <p:cNvPr id="21" name="Rectangle 20"/>
          <p:cNvSpPr/>
          <p:nvPr/>
        </p:nvSpPr>
        <p:spPr>
          <a:xfrm>
            <a:off x="548640" y="301752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01752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G3</a:t>
            </a:r>
          </a:p>
        </p:txBody>
      </p:sp>
      <p:sp>
        <p:nvSpPr>
          <p:cNvPr id="23" name="Rectangle 22"/>
          <p:cNvSpPr/>
          <p:nvPr/>
        </p:nvSpPr>
        <p:spPr>
          <a:xfrm>
            <a:off x="1371600" y="301752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08760" y="301752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Namitha</a:t>
            </a:r>
          </a:p>
        </p:txBody>
      </p:sp>
      <p:sp>
        <p:nvSpPr>
          <p:cNvPr id="25" name="Rectangle 24"/>
          <p:cNvSpPr/>
          <p:nvPr/>
        </p:nvSpPr>
        <p:spPr>
          <a:xfrm>
            <a:off x="4251960" y="301752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51960" y="301752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9</a:t>
            </a:r>
          </a:p>
        </p:txBody>
      </p:sp>
      <p:sp>
        <p:nvSpPr>
          <p:cNvPr id="27" name="Rectangle 26"/>
          <p:cNvSpPr/>
          <p:nvPr/>
        </p:nvSpPr>
        <p:spPr>
          <a:xfrm>
            <a:off x="5212080" y="301752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301752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Encephalopathy (Two neonates)</a:t>
            </a:r>
          </a:p>
        </p:txBody>
      </p:sp>
      <p:sp>
        <p:nvSpPr>
          <p:cNvPr id="29" name="Rectangle 28"/>
          <p:cNvSpPr/>
          <p:nvPr/>
        </p:nvSpPr>
        <p:spPr>
          <a:xfrm>
            <a:off x="548640" y="352044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52044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G4</a:t>
            </a:r>
          </a:p>
        </p:txBody>
      </p:sp>
      <p:sp>
        <p:nvSpPr>
          <p:cNvPr id="31" name="Rectangle 30"/>
          <p:cNvSpPr/>
          <p:nvPr/>
        </p:nvSpPr>
        <p:spPr>
          <a:xfrm>
            <a:off x="1371600" y="352044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08760" y="352044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Sivamurukan</a:t>
            </a:r>
          </a:p>
        </p:txBody>
      </p:sp>
      <p:sp>
        <p:nvSpPr>
          <p:cNvPr id="33" name="Rectangle 32"/>
          <p:cNvSpPr/>
          <p:nvPr/>
        </p:nvSpPr>
        <p:spPr>
          <a:xfrm>
            <a:off x="4251960" y="352044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60" y="352044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8</a:t>
            </a:r>
          </a:p>
        </p:txBody>
      </p:sp>
      <p:sp>
        <p:nvSpPr>
          <p:cNvPr id="35" name="Rectangle 34"/>
          <p:cNvSpPr/>
          <p:nvPr/>
        </p:nvSpPr>
        <p:spPr>
          <a:xfrm>
            <a:off x="5212080" y="352044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49240" y="352044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Methaemoglobinaemia</a:t>
            </a:r>
          </a:p>
        </p:txBody>
      </p:sp>
      <p:sp>
        <p:nvSpPr>
          <p:cNvPr id="37" name="Rectangle 36"/>
          <p:cNvSpPr/>
          <p:nvPr/>
        </p:nvSpPr>
        <p:spPr>
          <a:xfrm>
            <a:off x="548640" y="402336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02336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G5</a:t>
            </a:r>
          </a:p>
        </p:txBody>
      </p:sp>
      <p:sp>
        <p:nvSpPr>
          <p:cNvPr id="39" name="Rectangle 38"/>
          <p:cNvSpPr/>
          <p:nvPr/>
        </p:nvSpPr>
        <p:spPr>
          <a:xfrm>
            <a:off x="1371600" y="402336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08760" y="402336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Nikhil</a:t>
            </a:r>
          </a:p>
        </p:txBody>
      </p:sp>
      <p:sp>
        <p:nvSpPr>
          <p:cNvPr id="41" name="Rectangle 40"/>
          <p:cNvSpPr/>
          <p:nvPr/>
        </p:nvSpPr>
        <p:spPr>
          <a:xfrm>
            <a:off x="4251960" y="402336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51960" y="402336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5</a:t>
            </a:r>
          </a:p>
        </p:txBody>
      </p:sp>
      <p:sp>
        <p:nvSpPr>
          <p:cNvPr id="43" name="Rectangle 42"/>
          <p:cNvSpPr/>
          <p:nvPr/>
        </p:nvSpPr>
        <p:spPr>
          <a:xfrm>
            <a:off x="5212080" y="402336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49240" y="402336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Salicylate poisoning</a:t>
            </a:r>
          </a:p>
        </p:txBody>
      </p:sp>
      <p:sp>
        <p:nvSpPr>
          <p:cNvPr id="45" name="Rectangle 44"/>
          <p:cNvSpPr/>
          <p:nvPr/>
        </p:nvSpPr>
        <p:spPr>
          <a:xfrm>
            <a:off x="548640" y="452628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452628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G6</a:t>
            </a:r>
          </a:p>
        </p:txBody>
      </p:sp>
      <p:sp>
        <p:nvSpPr>
          <p:cNvPr id="47" name="Rectangle 46"/>
          <p:cNvSpPr/>
          <p:nvPr/>
        </p:nvSpPr>
        <p:spPr>
          <a:xfrm>
            <a:off x="1371600" y="452628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08760" y="452628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Rohit</a:t>
            </a:r>
          </a:p>
        </p:txBody>
      </p:sp>
      <p:sp>
        <p:nvSpPr>
          <p:cNvPr id="49" name="Rectangle 48"/>
          <p:cNvSpPr/>
          <p:nvPr/>
        </p:nvSpPr>
        <p:spPr>
          <a:xfrm>
            <a:off x="4251960" y="452628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51960" y="452628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7</a:t>
            </a:r>
          </a:p>
        </p:txBody>
      </p:sp>
      <p:sp>
        <p:nvSpPr>
          <p:cNvPr id="51" name="Rectangle 50"/>
          <p:cNvSpPr/>
          <p:nvPr/>
        </p:nvSpPr>
        <p:spPr>
          <a:xfrm>
            <a:off x="5212080" y="452628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49240" y="452628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Septic shock + severe anaemia</a:t>
            </a:r>
          </a:p>
        </p:txBody>
      </p:sp>
      <p:sp>
        <p:nvSpPr>
          <p:cNvPr id="53" name="Rectangle 52"/>
          <p:cNvSpPr/>
          <p:nvPr/>
        </p:nvSpPr>
        <p:spPr>
          <a:xfrm>
            <a:off x="548640" y="502920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502920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G7</a:t>
            </a:r>
          </a:p>
        </p:txBody>
      </p:sp>
      <p:sp>
        <p:nvSpPr>
          <p:cNvPr id="55" name="Rectangle 54"/>
          <p:cNvSpPr/>
          <p:nvPr/>
        </p:nvSpPr>
        <p:spPr>
          <a:xfrm>
            <a:off x="1371600" y="502920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08760" y="502920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Balachandar</a:t>
            </a:r>
          </a:p>
        </p:txBody>
      </p:sp>
      <p:sp>
        <p:nvSpPr>
          <p:cNvPr id="57" name="Rectangle 56"/>
          <p:cNvSpPr/>
          <p:nvPr/>
        </p:nvSpPr>
        <p:spPr>
          <a:xfrm>
            <a:off x="4251960" y="502920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51960" y="502920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4</a:t>
            </a:r>
          </a:p>
        </p:txBody>
      </p:sp>
      <p:sp>
        <p:nvSpPr>
          <p:cNvPr id="59" name="Rectangle 58"/>
          <p:cNvSpPr/>
          <p:nvPr/>
        </p:nvSpPr>
        <p:spPr>
          <a:xfrm>
            <a:off x="5212080" y="502920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49240" y="502920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Suspected IEM</a:t>
            </a:r>
          </a:p>
        </p:txBody>
      </p:sp>
      <p:sp>
        <p:nvSpPr>
          <p:cNvPr id="61" name="Rectangle 60"/>
          <p:cNvSpPr/>
          <p:nvPr/>
        </p:nvSpPr>
        <p:spPr>
          <a:xfrm>
            <a:off x="548640" y="553212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5532120"/>
            <a:ext cx="777240" cy="448056"/>
          </a:xfrm>
          <a:prstGeom prst="rect">
            <a:avLst/>
          </a:prstGeom>
          <a:noFill/>
        </p:spPr>
        <p:txBody>
          <a:bodyPr wrap="square" lIns="0" rIns="0" tIns="0" bIns="0" anchor="ctr">
            <a:spAutoFit/>
          </a:bodyPr>
          <a:lstStyle/>
          <a:p>
            <a:pPr algn="ctr"/>
            <a:r>
              <a:rPr sz="1200" b="1" i="0">
                <a:solidFill>
                  <a:srgbClr val="FFFFFF"/>
                </a:solidFill>
                <a:latin typeface="Helvetica"/>
              </a:rPr>
              <a:t>G8</a:t>
            </a:r>
          </a:p>
        </p:txBody>
      </p:sp>
      <p:sp>
        <p:nvSpPr>
          <p:cNvPr id="63" name="Rectangle 62"/>
          <p:cNvSpPr/>
          <p:nvPr/>
        </p:nvSpPr>
        <p:spPr>
          <a:xfrm>
            <a:off x="1371600" y="553212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08760" y="5532120"/>
            <a:ext cx="2651760" cy="448056"/>
          </a:xfrm>
          <a:prstGeom prst="rect">
            <a:avLst/>
          </a:prstGeom>
          <a:noFill/>
        </p:spPr>
        <p:txBody>
          <a:bodyPr wrap="square" lIns="0" rIns="0" tIns="0" bIns="0" anchor="ctr">
            <a:spAutoFit/>
          </a:bodyPr>
          <a:lstStyle/>
          <a:p>
            <a:pPr algn="l"/>
            <a:r>
              <a:rPr sz="1200" b="0" i="0">
                <a:solidFill>
                  <a:srgbClr val="1B2A3A"/>
                </a:solidFill>
                <a:latin typeface="Helvetica"/>
              </a:rPr>
              <a:t>Dipu / Sreedeep</a:t>
            </a:r>
          </a:p>
        </p:txBody>
      </p:sp>
      <p:sp>
        <p:nvSpPr>
          <p:cNvPr id="65" name="Rectangle 64"/>
          <p:cNvSpPr/>
          <p:nvPr/>
        </p:nvSpPr>
        <p:spPr>
          <a:xfrm>
            <a:off x="4251960" y="553212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251960" y="5532120"/>
            <a:ext cx="914400" cy="448056"/>
          </a:xfrm>
          <a:prstGeom prst="rect">
            <a:avLst/>
          </a:prstGeom>
          <a:noFill/>
        </p:spPr>
        <p:txBody>
          <a:bodyPr wrap="square" lIns="0" rIns="0" tIns="0" bIns="0" anchor="ctr">
            <a:spAutoFit/>
          </a:bodyPr>
          <a:lstStyle/>
          <a:p>
            <a:pPr algn="ctr"/>
            <a:r>
              <a:rPr sz="1100" b="1" i="0">
                <a:solidFill>
                  <a:srgbClr val="0A4E4E"/>
                </a:solidFill>
                <a:latin typeface="Helvetica"/>
              </a:rPr>
              <a:t>Case 2</a:t>
            </a:r>
          </a:p>
        </p:txBody>
      </p:sp>
      <p:sp>
        <p:nvSpPr>
          <p:cNvPr id="67" name="Rectangle 66"/>
          <p:cNvSpPr/>
          <p:nvPr/>
        </p:nvSpPr>
        <p:spPr>
          <a:xfrm>
            <a:off x="5212080" y="553212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349240" y="5532120"/>
            <a:ext cx="6217920" cy="448056"/>
          </a:xfrm>
          <a:prstGeom prst="rect">
            <a:avLst/>
          </a:prstGeom>
          <a:noFill/>
        </p:spPr>
        <p:txBody>
          <a:bodyPr wrap="square" lIns="0" rIns="0" tIns="0" bIns="0" anchor="ctr">
            <a:spAutoFit/>
          </a:bodyPr>
          <a:lstStyle/>
          <a:p>
            <a:pPr algn="l"/>
            <a:r>
              <a:rPr sz="1150" b="0" i="0">
                <a:solidFill>
                  <a:srgbClr val="1B2A3A"/>
                </a:solidFill>
                <a:latin typeface="Helvetica"/>
              </a:rPr>
              <a:t>Pyloric stenosis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1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DKA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10-year-old girl, 2 weeks of polyuria and 3 days of vomiting and abdominal pain. Acidotic breathing present, haemodynamically stable, GCS 11.</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7.08</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14</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36</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4.5</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480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b-OHB</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5.8</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10 ML/KG NS BOLUS, INSULIN INFUSION, NS + KCL.</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7.25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26</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11</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34</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142</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3.4</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119</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68" name="TextBox 67"/>
          <p:cNvSpPr txBox="1"/>
          <p:nvPr/>
        </p:nvSpPr>
        <p:spPr>
          <a:xfrm>
            <a:off x="7242048"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230</a:t>
            </a:r>
          </a:p>
        </p:txBody>
      </p:sp>
      <p:sp>
        <p:nvSpPr>
          <p:cNvPr id="69" name="Rounded Rectangle 68"/>
          <p:cNvSpPr/>
          <p:nvPr/>
        </p:nvSpPr>
        <p:spPr>
          <a:xfrm>
            <a:off x="9473184"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73184"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b-OHB</a:t>
            </a:r>
          </a:p>
        </p:txBody>
      </p:sp>
      <p:sp>
        <p:nvSpPr>
          <p:cNvPr id="71" name="TextBox 70"/>
          <p:cNvSpPr txBox="1"/>
          <p:nvPr/>
        </p:nvSpPr>
        <p:spPr>
          <a:xfrm>
            <a:off x="9473184"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 · DKA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2 weeks of polyuria (osmotic diuresis) with vomiting and abdominal pain, Kussmaul breathing, GCS 11 - classical new-onset DKA with early obtundation.</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14 / 4 = 84 nmol/L -&gt; pH 7.08 - matches. PaO2 36 suggests a venous sample.</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7.08 - severe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4 (low) with acidaemia -&gt;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Winter's: PaCO2 = 1.5 x 4 + 8 = 14 +/-2. Actual 14 - appropriate.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132 - (98 + 4) = 30 (markedly raised). Albumin normal - no correction needed.</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132 - 98 = 34</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Low-normal - mild chloride-driven component already present.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4.0</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30 - 5.8 = 24.2</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raised - ketoacids dominate.</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Unmeasured anions, with mild chloride-driven component.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 · DKA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Insulin deficiency drives lipolysis and hepatic ketogenesis. β-hydroxybutyrate and acetoacetate accumulate as unmeasured anions — each one is buffered by bicarbonate, dropping serum HCO3. Kussmaul respiration blows off CO2 to compensate. When insulin restores, ketones clear — but chloride from saline resuscitation fills the anion gap, so the acid changes character from HAGMA to NAGMA.</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Corrected Na+ = Na + 1.6 × [(glucose − 100)/100]. True Na is often higher than measured.</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Total body K+ is depleted even when serum K+ looks normal — expect a rapid fall once insulin starts.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A persistently low HCO3 after treatment usually reflects chloride load, not ongoing ketosis. Recalculate the AG before escalating insulin.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 · DKA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Calculate the corrected serum sodium.</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Na+ + 1.6 x [(480 - 100)/100] ~138. True hyponatraemia is dilutional from hyperglycaemia.</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What do the glucose and b-OHB values suggest?</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Hyperglycaemic ketosis driving the gap - severe DKA.</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Recalculate the anion gap on every repeat gas - a persistently low HCO3 after treatment can mean the acid has changed character.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2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Pyloric stenosis</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6-week-old first-born boy with 10 days of progressively forceful, non-bilious vomiting after every feed. Sunken eyes, lethargic but arousable, still hungry after vomiting.</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7.52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34</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3.0</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82</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90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Urine Cl</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&lt;15</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IV 0.9% SALINE + KCL, CORRECT DEHYDRATION AND HYPOKALAEMIA, THEN PYLOR</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7.45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27</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Urine Cl</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&gt;20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2 · PYLORIC STENOSIS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Classic for hypertrophic pyloric stenosis: forceful non-bilious vomiting after every feed, still hungry, with dehydration.</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48 / 38 = 30 -&gt; pH 7.52 - matches. PaO2 34 suggests venous.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7.52 - alkalaemia.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38 (raised) with alkalaemia -&gt; metabolic alkalosis.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PaCO2 = 0.7 x 38 + 21 = 47.6 +/-2 (45.6-49.6). Actual 48 - appropriate.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132 - (82 + 38) = 12 (normal).</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132 - 82 = 50</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high - chloride-loss alkalosis.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4.0</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AG 12 - 0 = 12</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Loss of gastric HCl has removed chloride, raising SID.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2 · PYLORIC STENOSIS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Pyloric stenosis causes loss of gastric HCl — both H+ and Cl− leave the body. The kidney compensates by exchanging Na+ for H+ (generating new HCO3) and, under aldosterone drive from volume depletion, exchanges Na+ for K+. Net result: hypochloraemic, hypokalaemic metabolic alkalosis with paradoxical aciduria.</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Urine Cl &lt; 15 mmol/L = chloride-responsive alkalosis. Best single discriminator from chloride-resistant causes (Bartter, Gitelman, mineralocorticoid excess).</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Correct volume and K+ BEFORE surgery — anaesthesia in an alkalotic, hypokalaemic infant is dangerous.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Paradoxical aciduria despite systemic alkalosis is a classic pyloric stenosis 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2 · PYLORIC STENOSIS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What is the significance of the low urine chloride?</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Urine Cl &lt; 15-20 mmol/L confirms chloride-responsive metabolic alkalosis: kidney appropriately conserving chloride. Alkalosis will correct with chloride-rich fluid. Contrast with chloride-resistant causes (Bartter/Gitelman) where urine Cl is inappropriately high.</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What is the likely clinical diagnosis?</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Hypertrophic pyloric stenosis - persistent vomiting of gastric HCl and volume depletion produce hypochloraemic, hypokalaemic metabolic alkalosis; secondary hyperaldosteronism drives further renal H+ and K+ loss.</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A urine chloride confirms whether a metabolic alkalosis will respond to chloride repletion. SID tracks the response.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3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Gastroenteritis</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8-month-old girl with 2 days of fever and large-volume loose stools. Sunken eyes, delayed skin turgor, prolonged capillary refill time.</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7.22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27</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34</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129</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3.2</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112</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85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IV ISOTONIC FLUIDS, CORRECT DEHYDRATION.</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36</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135</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3 · GASTROENTERITIS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Acute gastroenteritis with large-volume diarrhoea and significant dehydration.</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27 / 11 = 59 -&gt; pH 7.23 - matches. PaO2 34 suggests venous.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7.22 -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11 (low) -&gt;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Winter's: PaCO2 = 1.5 x 11 + 8 = 24.5 +/-2 (22.5-26.5). Actual 27 is at upper edge - borderline compensation.</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129 - (112 + 11) = 6 (low/normal). Corrected AG = 6 + 2.5 x (4 - 3.5) = 7.25 - still normal.</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129 - 112 = 17</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low - severe chloride-driven acidosis.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3.5</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Mildly low - slightly alkalinising.</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AG 6 - 1 = 5</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Chloride-driven NAGMA.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3 · GASTROENTERITIS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Stool is rich in bicarbonate. Loss depletes HCO3; the kidney reabsorbs Cl to preserve electroneutrality, producing a hyperchloraemic NAGMA. Lactate stays normal because perfusion is maintained — dehydration alone does not cause lactic acidosis until shock develops.</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NAGMA + normal lactate = GI or renal bicarbonate loss, not hypoperfusion.</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Correct AG for albumin before excluding a HAGMA — the raw number can lie.</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SID = Na − Cl falls below 36 in hyperchloraemic acidosis — a rapid bedside marker of chloride-driven mechanism.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3 · GASTROENTERITIS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What is the likely cause of the metabolic acidosis in this child?</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Loss of bicarbonate-rich fluid in large-volume diarrhoea -&gt; hyperchloraemic NAGMA.</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How do the chloride and lactate values help you identify the mechanism?</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Chloride elevated (112) as it replaces lost bicarbonate; normal lactate (1) argues against significant hypoperfusion/shock.</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A normal-anion-gap acidosis with a normal lactate points to GI bicarbonate loss, not hypoperfusion. SID confirms the chloride-driven mechanism.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4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Suspected IEM</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8-month-old girl with 1 day of fever and vomiting. Effortless tachypnoea, haemodynamically stable, lethargic. History of similar episodes in the past.</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7.24</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16</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135</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107</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85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CRITICAL SAMPLE, DEXTROSE, STOP PROTEIN.</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4.2</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2.5</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68" name="TextBox 67"/>
          <p:cNvSpPr txBox="1"/>
          <p:nvPr/>
        </p:nvSpPr>
        <p:spPr>
          <a:xfrm>
            <a:off x="7242048"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4 · SUSPECTED IEM</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Short acute illness in an infant with history of similar prior episodes - recurrence is the key word.</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38 / 16 = 57 -&gt; pH 7.24 - matches.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7.24 -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16 (low) -&gt;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Winter's: PaCO2 = 1.5 x 16 + 8 = 32 +/-2 (30-34). Actual 38 - higher than expected -&gt; additional respiratory acidosis.</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Raw AG = 135 - (107 + 16) = 12 (apparently normal). Albumin 2.0: corrected AG = 12 + 2.5 x (4 - 2) = 17 (clearly raised).</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135 - 107 = 28</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Low -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2.0</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low - alkalinising, masking HAGMA.</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17 - 3 = 14</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Raised.</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Three forces: low SID, low Atot (masking), unmeasured anions.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4 · SUSPECTED IEM</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The raw AG looks normal because hypoalbuminaemia removes unmeasured anions. Correct the AG for albumin to unmask the HAGMA. The unmeasured anions here are likely organic acids from an inborn error of metabolism. Recurrent episodes triggered by catabolic stress (fever, fasting) are the classic pattern.</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Always correct AG for albumin: AG_corrected = AG + 2.5 × (4 − albumin).</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Recurrent unexplained acidosis + ketosis + hypoglycaemia = IEM until proven otherwise.</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Draw the critical sample (ammonia on ice, urine organic acids, plasma amino acids, acylcarnitine) during the acute episode, not after.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4 · SUSPECTED IEM</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Calculate the albumin-corrected anion gap.</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12 + 2.5 x (4.0 - 2.0) = 17 mEq/L. Raw gap of 12 looked normal; low albumin was masking a real HAGMA.</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Is there an additional respiratory disorder?</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Yes - Winter's predicts PaCO2 30-34; actual 38 is higher -&gt; inadequate compensation (superimposed respiratory acidosis).</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What is the significance of recurrent similar episodes in this clinical setting?</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Recurrent metabolic decompensation triggered by intercurrent illness raises strong suspicion for underlying IEM (organic acidaemia or fatty acid oxidation defect). Prompt metabolic work-up: ammonia, lactate, urine organic acids, plasma amino acids, acylcarnitine - the critical sample.</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Correct the anion gap for albumin as a reflex, every time - it is most consequential exactly when the raw number looks reassuring. Also check SID.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5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Salicylate poisoning</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15-year-old boy with tinnitus, fast breathing, vomiting, and confusion after intentional ingestion.</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7.42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108</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140</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4.2</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102</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90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ACTIVATED CHARCOAL, IV FLUIDS, SODIUM BICARBONATE, ALKALINISE URINE, C</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7.48</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30</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22</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142</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4.1</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5 · SALICYLATE POISONING</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Tinnitus, hyperventilation, vomiting, confusion after intentional ingestion in a teenager - tinnitus is the most specific clue.</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18 / 11 = 39 -&gt; pH 7.41 - matches 7.42. Plausible arterial sample.</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7.42 - essentially normal (the trap).</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Two markedly abnormal primary values (PaCO2 18, HCO3 11) with near-normal pH - mixed disorder.</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If HCO3 11 were the only problem, Winter's predicts PaCO2 24.5 +/-2. Actual PaCO2 18 is far below that - separate primary respiratory alkalosis.</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140 - (102 + 11) = 27 (markedly raised). Lactate only partly explains.</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140 - 102 = 38</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High-normal - no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27 - 3.2 = 23.8</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raised - salicylate metabolites + ketones.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Unmeasured anions + primary respiratory alkalosis.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5 · SALICYLATE POISONING</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Salicylate has two opposing effects. (1) Direct stimulation of the medullary respiratory centre → respiratory alkalosis. (2) Uncoupling of oxidative phosphorylation → lactic acid and ketone production → HAGMA. Net pH is often near normal because two big derangements cancel out — never trust a 'normal' pH with abnormal component values.</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A near-normal pH with low PaCO2 and low HCO3 is a mixed disorder until proven otherwise.</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Tinnitus is the most specific early clinical clue in salicylate toxicity.</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Treatment is urinary alkalinisation with sodium bicarbonate; haemodialysis for severe poisoning.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5 · SALICYLATE POISONING</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A near-normal pH can conceal a mixed disorder. What disorders are present here?</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Primary respiratory alkalosis (PaCO2 far lower than metabolic compensation alone would predict - direct salicylate stimulation of central respiratory centre) + primary HAGMA (AG 27, from lactate, ketosis, salicylate organic acids).</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What poisoning is suggested by the clinical history and ABG pattern?</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Salicylate (aspirin) poisoning - classic triad of tinnitus, hyperventilation, and mixed respiratory-alkalosis/HAGMA pattern after intentional ingestion in an adolescent.</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A near-normal pH never means a normal gas - check PaCO2 and HCO3 against each other before you trust it. SID helps distinguish chloride-driven from unmeasured-anion-driven acidosis.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6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Post-arrest hanging</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5-year-old boy, 20 kg, accidental hanging. Post-arrest, ROSC after 15 min CPR, ventilated. PEEP 6, PIP 16, RR 20, I:E 1:2, FiO2 100%, TV 80 mL, MAP 17.</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6.88</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65</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12</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6.2</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210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INCREASE VENTILATION, TREAT HYPERKALAEMIA, FLUIDS, CONSIDER BICARBONAT</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7.25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17</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90</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4.1</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68" name="TextBox 67"/>
          <p:cNvSpPr txBox="1"/>
          <p:nvPr/>
        </p:nvSpPr>
        <p:spPr>
          <a:xfrm>
            <a:off x="7242048"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180</a:t>
            </a:r>
          </a:p>
        </p:txBody>
      </p:sp>
      <p:sp>
        <p:nvSpPr>
          <p:cNvPr id="69" name="Rounded Rectangle 68"/>
          <p:cNvSpPr/>
          <p:nvPr/>
        </p:nvSpPr>
        <p:spPr>
          <a:xfrm>
            <a:off x="9473184"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73184"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71" name="TextBox 70"/>
          <p:cNvSpPr txBox="1"/>
          <p:nvPr/>
        </p:nvSpPr>
        <p:spPr>
          <a:xfrm>
            <a:off x="9473184"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6 · POST-ARREST HANGING</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Post-cardiac-arrest after prolonged CPR for hanging - expect hypoxic-ischaemic metabolic acidosis and possible inadequate ventilation.</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65 / 12 = 130 -&gt; pH 6.89 - matches 6.88.</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6.88 - profound, life-threatening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Both HCO3 12 and PaCO2 65 abnormal in acidifying direction - combined metabolic + respiratory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If pure metabolic, Winter's predicts PaCO2 26 +/-2. Actual 65 far above - large separate primary respiratory acidosis.</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138 - (98 + 12) = 28 (markedly raised). Lactate 3.2 does not fully explain.</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138 - 98 = 40</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High-normal - no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28 - 3.2 = 24.8</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raised - hypoxic-ischaemic anions.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Unmeasured anions + primary respiratory acidosis.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6 · POST-ARREST HANGING</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Hanging causes both hypoxic-ischaemic injury (lactic acidosis, HAGMA) and central respiratory depression or inadequate ventilation. Both PaCO2 and HCO3 push pH down — no compensation possible. Add ARDS from aspiration/ischaemia and you have a triple threat: metabolic acidosis, respiratory acidosis, and severe oxygenation failure.</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Never call a high PaCO2 'compensation' when pH is acidotic and both values are deranged — name both primary disorders.</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OI ≥ 16 = severe paediatric ARDS (PALICC criteria).</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K+ 6.2 needs urgent treatment alongside the acid-base picture — calcium gluconate first if there are ECG changes.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6 · POST-ARREST HANGING</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Identify all components of the mixed acid-base disorder.</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(1) Primary metabolic acidosis (HCO3 12, AG 28 - hypoxic-ischaemic/lactic) and (2) primary respiratory acidosis (PaCO2 65, far exceeding expected ~26) - combined metabolic + respiratory acidosis.</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Calculate the P/F ratio and oxygenation index using the available data.</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P/F = 70/1.0 = 70. OI = (17 x 1.0 x 100)/70 = 24.3.</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How would you grade the severity of oxygenation failure?</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OI 24.3 = severe oxygenation failure (PALICC OI &gt;=16 = severe).</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When PaCO2 and HCO3 are both markedly abnormal in the same direction, name both disorders explicitly - one is not compensating for the other. SID confirms no chloride-driven component.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7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Septic shock + severe anaemia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4-year-old boy with septic shock and severe anaemia. FiO2 40%, SpO2 99%, ScvO2 42%.</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7.25</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26</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110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4.3</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106</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Hb</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BLOOD TRANSFUSION, ANTIBIOTICS, FLUIDS, VASOPRESSORS.</a:t>
            </a:r>
          </a:p>
        </p:txBody>
      </p:sp>
      <p:sp>
        <p:nvSpPr>
          <p:cNvPr id="42" name="Rounded Rectangle 41"/>
          <p:cNvSpPr/>
          <p:nvPr/>
        </p:nvSpPr>
        <p:spPr>
          <a:xfrm>
            <a:off x="548640"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36</a:t>
            </a:r>
          </a:p>
        </p:txBody>
      </p:sp>
      <p:sp>
        <p:nvSpPr>
          <p:cNvPr id="48" name="Rounded Rectangle 47"/>
          <p:cNvSpPr/>
          <p:nvPr/>
        </p:nvSpPr>
        <p:spPr>
          <a:xfrm>
            <a:off x="5010912"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54" name="Rounded Rectangle 53"/>
          <p:cNvSpPr/>
          <p:nvPr/>
        </p:nvSpPr>
        <p:spPr>
          <a:xfrm>
            <a:off x="9473184"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57" name="Rounded Rectangle 56"/>
          <p:cNvSpPr/>
          <p:nvPr/>
        </p:nvSpPr>
        <p:spPr>
          <a:xfrm>
            <a:off x="548640"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9" name="TextBox 58"/>
          <p:cNvSpPr txBox="1"/>
          <p:nvPr/>
        </p:nvSpPr>
        <p:spPr>
          <a:xfrm>
            <a:off x="548640"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60" name="Rounded Rectangle 59"/>
          <p:cNvSpPr/>
          <p:nvPr/>
        </p:nvSpPr>
        <p:spPr>
          <a:xfrm>
            <a:off x="2779776"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62" name="TextBox 61"/>
          <p:cNvSpPr txBox="1"/>
          <p:nvPr/>
        </p:nvSpPr>
        <p:spPr>
          <a:xfrm>
            <a:off x="2779776"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105</a:t>
            </a:r>
          </a:p>
        </p:txBody>
      </p:sp>
      <p:sp>
        <p:nvSpPr>
          <p:cNvPr id="63" name="Rounded Rectangle 62"/>
          <p:cNvSpPr/>
          <p:nvPr/>
        </p:nvSpPr>
        <p:spPr>
          <a:xfrm>
            <a:off x="5010912"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66" name="Rounded Rectangle 65"/>
          <p:cNvSpPr/>
          <p:nvPr/>
        </p:nvSpPr>
        <p:spPr>
          <a:xfrm>
            <a:off x="7242048"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Hb</a:t>
            </a:r>
          </a:p>
        </p:txBody>
      </p:sp>
      <p:sp>
        <p:nvSpPr>
          <p:cNvPr id="68" name="TextBox 67"/>
          <p:cNvSpPr txBox="1"/>
          <p:nvPr/>
        </p:nvSpPr>
        <p:spPr>
          <a:xfrm>
            <a:off x="7242048"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9.0</a:t>
            </a:r>
          </a:p>
        </p:txBody>
      </p:sp>
      <p:sp>
        <p:nvSpPr>
          <p:cNvPr id="69" name="Rounded Rectangle 68"/>
          <p:cNvSpPr/>
          <p:nvPr/>
        </p:nvSpPr>
        <p:spPr>
          <a:xfrm>
            <a:off x="9473184"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73184"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71" name="TextBox 70"/>
          <p:cNvSpPr txBox="1"/>
          <p:nvPr/>
        </p:nvSpPr>
        <p:spPr>
          <a:xfrm>
            <a:off x="9473184"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2.5</a:t>
            </a:r>
          </a:p>
        </p:txBody>
      </p:sp>
      <p:sp>
        <p:nvSpPr>
          <p:cNvPr id="72" name="Rounded Rectangle 71"/>
          <p:cNvSpPr/>
          <p:nvPr/>
        </p:nvSpPr>
        <p:spPr>
          <a:xfrm>
            <a:off x="548640"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64861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ScvO2</a:t>
            </a:r>
          </a:p>
        </p:txBody>
      </p:sp>
      <p:sp>
        <p:nvSpPr>
          <p:cNvPr id="74" name="TextBox 73"/>
          <p:cNvSpPr txBox="1"/>
          <p:nvPr/>
        </p:nvSpPr>
        <p:spPr>
          <a:xfrm>
            <a:off x="548640" y="670560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65%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7 · SEPTIC SHOCK + SEVERE ANAEMIA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Septic shock with severe anaemia (Hb 4.5) - two independent reasons for impaired oxygen delivery.</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26 / 11 = 57 -&gt; pH 7.25 - matches.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7.25 -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11 (low) -&gt;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Winter's: PaCO2 = 1.5 x 11 + 8 = 24.5 +/-2. Actual 26 - appropriate.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138 - (106 + 11) = 21 (raised). Albumin normal, negligible correction.</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138 - 106 = 32</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Low - chloride-driven component from resuscitation fluids.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21 - 7 = 14</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Raised - lactic acidosis.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Two forces: low SID + unmeasured anions.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7 · SEPTIC SHOCK + SEVERE ANAEMIA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Oxygen delivery (DO2) = cardiac output × CaO2. CaO2 ≈ 1.34 × Hb × SaO2. With Hb 4.5 g/dL, CaO2 is ~6 mL/dL vs normal 16–20. The body compensates by increasing extraction (ScvO2 falls) — but once extraction is maximal, tissues switch to anaerobic metabolism → lactate rises. A normal SpO2 is completely misleading.</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SpO2 says nothing about oxygen delivery. ScvO2 &lt; 65% = increased extraction = inadequate DO2.</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The single most effective intervention in severe anaemia is transfusion — not more FiO2.</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Lactate clearance and ScvO2 are better endpoints than repeat arterial gases.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7 · SEPTIC SHOCK + SEVERE ANAEMIA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Calculate the P/F ratio.</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110 / 0.4 = 275 - mild oxygenation impairment; not where the problem lies.</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How do you interpret the low ScvO2 despite a normal SpO2?</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Large veno-arterial oxygen extraction gap: lungs saturating haemoglobin normally, but tissues extracting abnormally high fraction because overall DO2 inadequate relative to demand. SpO2 alone misses this.</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What do the severe anaemia and elevated lactate indicate about oxygen delivery and extraction?</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Severe anaemia critically reduces CaO2 and therefore DO2, even though saturation normal. Body compensates initially by increasing extraction (low ScvO2), but once exceeded, anaerobic metabolism follows - lactate 7. Content/delivery problem, not lung problem. Priority: transfusion.</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A normal SpO2 says nothing about oxygen delivery when haemoglobin is this low - look at ScvO2 and lactate, not the saturation monitor. SID reveals the chloride-driven component.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8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Methaemoglobinaemia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10-year-old boy with cyanosis, headache, tachycardia, and lethargy after receiving topical benzocaine. Blood sample drawn looks chocolate-brown. FiO2 90%, SpO2 85%, SO2 65%.</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7.36</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550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4.3</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105</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MetHb</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METHYLENE BLUE 1-2 MG/KG IV (CHECK G6PD STATUS FIRST), OXYGEN, STOP BE</a:t>
            </a:r>
          </a:p>
        </p:txBody>
      </p:sp>
      <p:sp>
        <p:nvSpPr>
          <p:cNvPr id="42" name="Rounded Rectangle 41"/>
          <p:cNvSpPr/>
          <p:nvPr/>
        </p:nvSpPr>
        <p:spPr>
          <a:xfrm>
            <a:off x="548640"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7.38</a:t>
            </a:r>
          </a:p>
        </p:txBody>
      </p:sp>
      <p:sp>
        <p:nvSpPr>
          <p:cNvPr id="45" name="Rounded Rectangle 44"/>
          <p:cNvSpPr/>
          <p:nvPr/>
        </p:nvSpPr>
        <p:spPr>
          <a:xfrm>
            <a:off x="2779776"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48" name="Rounded Rectangle 47"/>
          <p:cNvSpPr/>
          <p:nvPr/>
        </p:nvSpPr>
        <p:spPr>
          <a:xfrm>
            <a:off x="5010912"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23</a:t>
            </a:r>
          </a:p>
        </p:txBody>
      </p:sp>
      <p:sp>
        <p:nvSpPr>
          <p:cNvPr id="51" name="Rounded Rectangle 50"/>
          <p:cNvSpPr/>
          <p:nvPr/>
        </p:nvSpPr>
        <p:spPr>
          <a:xfrm>
            <a:off x="7242048"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200</a:t>
            </a:r>
          </a:p>
        </p:txBody>
      </p:sp>
      <p:sp>
        <p:nvSpPr>
          <p:cNvPr id="54" name="Rounded Rectangle 53"/>
          <p:cNvSpPr/>
          <p:nvPr/>
        </p:nvSpPr>
        <p:spPr>
          <a:xfrm>
            <a:off x="9473184"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138</a:t>
            </a:r>
          </a:p>
        </p:txBody>
      </p:sp>
      <p:sp>
        <p:nvSpPr>
          <p:cNvPr id="57" name="Rounded Rectangle 56"/>
          <p:cNvSpPr/>
          <p:nvPr/>
        </p:nvSpPr>
        <p:spPr>
          <a:xfrm>
            <a:off x="548640"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9" name="TextBox 58"/>
          <p:cNvSpPr txBox="1"/>
          <p:nvPr/>
        </p:nvSpPr>
        <p:spPr>
          <a:xfrm>
            <a:off x="548640"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60" name="Rounded Rectangle 59"/>
          <p:cNvSpPr/>
          <p:nvPr/>
        </p:nvSpPr>
        <p:spPr>
          <a:xfrm>
            <a:off x="2779776"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62" name="TextBox 61"/>
          <p:cNvSpPr txBox="1"/>
          <p:nvPr/>
        </p:nvSpPr>
        <p:spPr>
          <a:xfrm>
            <a:off x="2779776"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105</a:t>
            </a:r>
          </a:p>
        </p:txBody>
      </p:sp>
      <p:sp>
        <p:nvSpPr>
          <p:cNvPr id="63" name="Rounded Rectangle 62"/>
          <p:cNvSpPr/>
          <p:nvPr/>
        </p:nvSpPr>
        <p:spPr>
          <a:xfrm>
            <a:off x="5010912"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4.1</a:t>
            </a:r>
          </a:p>
        </p:txBody>
      </p:sp>
      <p:sp>
        <p:nvSpPr>
          <p:cNvPr id="66" name="Rounded Rectangle 65"/>
          <p:cNvSpPr/>
          <p:nvPr/>
        </p:nvSpPr>
        <p:spPr>
          <a:xfrm>
            <a:off x="7242048"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MetHb</a:t>
            </a:r>
          </a:p>
        </p:txBody>
      </p:sp>
      <p:sp>
        <p:nvSpPr>
          <p:cNvPr id="68" name="TextBox 67"/>
          <p:cNvSpPr txBox="1"/>
          <p:nvPr/>
        </p:nvSpPr>
        <p:spPr>
          <a:xfrm>
            <a:off x="7242048"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5%</a:t>
            </a:r>
          </a:p>
        </p:txBody>
      </p:sp>
      <p:sp>
        <p:nvSpPr>
          <p:cNvPr id="69" name="Rounded Rectangle 68"/>
          <p:cNvSpPr/>
          <p:nvPr/>
        </p:nvSpPr>
        <p:spPr>
          <a:xfrm>
            <a:off x="9473184"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73184"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71" name="TextBox 70"/>
          <p:cNvSpPr txBox="1"/>
          <p:nvPr/>
        </p:nvSpPr>
        <p:spPr>
          <a:xfrm>
            <a:off x="9473184"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1.5</a:t>
            </a:r>
          </a:p>
        </p:txBody>
      </p:sp>
      <p:sp>
        <p:nvSpPr>
          <p:cNvPr id="72" name="Rounded Rectangle 71"/>
          <p:cNvSpPr/>
          <p:nvPr/>
        </p:nvSpPr>
        <p:spPr>
          <a:xfrm>
            <a:off x="548640"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64861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SpO2</a:t>
            </a:r>
          </a:p>
        </p:txBody>
      </p:sp>
      <p:sp>
        <p:nvSpPr>
          <p:cNvPr id="74" name="TextBox 73"/>
          <p:cNvSpPr txBox="1"/>
          <p:nvPr/>
        </p:nvSpPr>
        <p:spPr>
          <a:xfrm>
            <a:off x="548640" y="670560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98%</a:t>
            </a:r>
          </a:p>
        </p:txBody>
      </p:sp>
      <p:sp>
        <p:nvSpPr>
          <p:cNvPr id="75" name="Rounded Rectangle 74"/>
          <p:cNvSpPr/>
          <p:nvPr/>
        </p:nvSpPr>
        <p:spPr>
          <a:xfrm>
            <a:off x="2779776"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79776" y="64861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SO2</a:t>
            </a:r>
          </a:p>
        </p:txBody>
      </p:sp>
      <p:sp>
        <p:nvSpPr>
          <p:cNvPr id="77" name="TextBox 76"/>
          <p:cNvSpPr txBox="1"/>
          <p:nvPr/>
        </p:nvSpPr>
        <p:spPr>
          <a:xfrm>
            <a:off x="2779776" y="670560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95%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8 · METHAEMOGLOBINAEMIA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Cyanosis, headache, tachycardia, lethargy after topical benzocaine, with chocolate-brown blood - close to diagnostic before numbers read.</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38 / 21 = 43 -&gt; pH 7.36 - matches. Essentially normal acid-base gas.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7.36 - essentially normal.</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No significant primary acid-base disorder. Acid-base is distraction.</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Not applicable.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138 - (105 + 21) = 12 (normal).</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138 - 105 = 33</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Low-normal - mild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12 - 2 = 10</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 Acid-base status benign.</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Acid-base is not the story; oxygenation 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8 · METHAEMOGLOBINAEMIA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Methaemoglobin has Fe3+ rather than Fe2+, so it cannot bind O2. It also shifts the O2 dissociation curve left, impairing tissue unloading. Pulse oximetry cannot distinguish MetHb from oxyhaemoglobin — it reads falsely high and pins around 82–85%. Co-oximetry directly measures true SaO2.</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Cyanosis + chocolate-brown blood + high PaO2 + falsely reassuring SpO2 = methaemoglobinaemia.</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Methylene blue 1–2 mg/kg is the antidote — check G6PD status first (can cause haemolysis).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MetHb &gt; 30% requires urgent treatment regardless of symptoms.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8 · METHAEMOGLOBINAEMIA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Calculate the P/F ratio.</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550 / 0.9 ~611.</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How do you explain the discrepancy between the very high PaO2, SpO2, and SO2?</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PaO2 measures dissolved oxygen tension and is unaffected by methaemoglobin, so remains high. Methaemoglobin (Fe3+, unable to bind oxygen) distorts pulse oximeter algorithm, driving SpO2 toward falsely fixed value ~82-85%. Directly measured SO2 by co-oximetry (65%) reflects true, much lower functional saturation - 35% of haemoglobin cannot carry oxygen at all.</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What is the significance of the chocolate-brown blood and MetHb 35%?</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Chocolate-brown blood is classic bedside sign. MetHb 35% confirms severe elevation - enough to cause significant functional anaemia (only 65% of haemoglobin can carry oxygen). Explains cyanosis, headache, tachycardia, lethargy despite high PaO2.</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A high PaO2 does not guarantee oxygen-carrying capacity - whenever SpO2 and PaO2 disagree, request co-oximetry before you do anything else.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9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Two encephalopathic neonates</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Baby A: 4 days old, fed well until day 2, now lethargic and tachypnoeic. Afebrile, clear chest. On antibiotics for sepsis. Baby B: 7 days old, vomiting, lethargic, deep rapid breathing. Platelets 60,000/uL, urine ketones 3+.</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pH</a:t>
            </a:r>
          </a:p>
        </p:txBody>
      </p:sp>
      <p:sp>
        <p:nvSpPr>
          <p:cNvPr id="12" name="TextBox 11"/>
          <p:cNvSpPr txBox="1"/>
          <p:nvPr/>
        </p:nvSpPr>
        <p:spPr>
          <a:xfrm>
            <a:off x="548640" y="379476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7.51</a:t>
            </a:r>
          </a:p>
        </p:txBody>
      </p:sp>
      <p:sp>
        <p:nvSpPr>
          <p:cNvPr id="13" name="Rounded Rectangle 12"/>
          <p:cNvSpPr/>
          <p:nvPr/>
        </p:nvSpPr>
        <p:spPr>
          <a:xfrm>
            <a:off x="2779776"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PaCO2</a:t>
            </a:r>
          </a:p>
        </p:txBody>
      </p:sp>
      <p:sp>
        <p:nvSpPr>
          <p:cNvPr id="15" name="TextBox 14"/>
          <p:cNvSpPr txBox="1"/>
          <p:nvPr/>
        </p:nvSpPr>
        <p:spPr>
          <a:xfrm>
            <a:off x="2779776" y="379476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26</a:t>
            </a:r>
          </a:p>
        </p:txBody>
      </p:sp>
      <p:sp>
        <p:nvSpPr>
          <p:cNvPr id="16" name="Rounded Rectangle 15"/>
          <p:cNvSpPr/>
          <p:nvPr/>
        </p:nvSpPr>
        <p:spPr>
          <a:xfrm>
            <a:off x="5010912"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HCO3</a:t>
            </a:r>
          </a:p>
        </p:txBody>
      </p:sp>
      <p:sp>
        <p:nvSpPr>
          <p:cNvPr id="18" name="TextBox 17"/>
          <p:cNvSpPr txBox="1"/>
          <p:nvPr/>
        </p:nvSpPr>
        <p:spPr>
          <a:xfrm>
            <a:off x="5010912" y="379476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
        <p:nvSpPr>
          <p:cNvPr id="19" name="Rounded Rectangle 18"/>
          <p:cNvSpPr/>
          <p:nvPr/>
        </p:nvSpPr>
        <p:spPr>
          <a:xfrm>
            <a:off x="7242048"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SBE</a:t>
            </a:r>
          </a:p>
        </p:txBody>
      </p:sp>
      <p:sp>
        <p:nvSpPr>
          <p:cNvPr id="21" name="TextBox 20"/>
          <p:cNvSpPr txBox="1"/>
          <p:nvPr/>
        </p:nvSpPr>
        <p:spPr>
          <a:xfrm>
            <a:off x="7242048" y="379476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-1</a:t>
            </a:r>
          </a:p>
        </p:txBody>
      </p:sp>
      <p:sp>
        <p:nvSpPr>
          <p:cNvPr id="22" name="Rounded Rectangle 21"/>
          <p:cNvSpPr/>
          <p:nvPr/>
        </p:nvSpPr>
        <p:spPr>
          <a:xfrm>
            <a:off x="9473184"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Na/Cl</a:t>
            </a:r>
          </a:p>
        </p:txBody>
      </p:sp>
      <p:sp>
        <p:nvSpPr>
          <p:cNvPr id="24" name="TextBox 23"/>
          <p:cNvSpPr txBox="1"/>
          <p:nvPr/>
        </p:nvSpPr>
        <p:spPr>
          <a:xfrm>
            <a:off x="9473184" y="379476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138/104</a:t>
            </a:r>
          </a:p>
        </p:txBody>
      </p:sp>
      <p:sp>
        <p:nvSpPr>
          <p:cNvPr id="25" name="Rounded Rectangle 24"/>
          <p:cNvSpPr/>
          <p:nvPr/>
        </p:nvSpPr>
        <p:spPr>
          <a:xfrm>
            <a:off x="548640"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1544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Glucose</a:t>
            </a:r>
          </a:p>
        </p:txBody>
      </p:sp>
      <p:sp>
        <p:nvSpPr>
          <p:cNvPr id="27" name="TextBox 26"/>
          <p:cNvSpPr txBox="1"/>
          <p:nvPr/>
        </p:nvSpPr>
        <p:spPr>
          <a:xfrm>
            <a:off x="548640" y="437388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85</a:t>
            </a:r>
          </a:p>
        </p:txBody>
      </p:sp>
      <p:sp>
        <p:nvSpPr>
          <p:cNvPr id="28" name="Rounded Rectangle 27"/>
          <p:cNvSpPr/>
          <p:nvPr/>
        </p:nvSpPr>
        <p:spPr>
          <a:xfrm>
            <a:off x="2779776"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1544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Lactate</a:t>
            </a:r>
          </a:p>
        </p:txBody>
      </p:sp>
      <p:sp>
        <p:nvSpPr>
          <p:cNvPr id="30" name="TextBox 29"/>
          <p:cNvSpPr txBox="1"/>
          <p:nvPr/>
        </p:nvSpPr>
        <p:spPr>
          <a:xfrm>
            <a:off x="2779776" y="437388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1.8</a:t>
            </a:r>
          </a:p>
        </p:txBody>
      </p:sp>
      <p:sp>
        <p:nvSpPr>
          <p:cNvPr id="31" name="Rounded Rectangle 30"/>
          <p:cNvSpPr/>
          <p:nvPr/>
        </p:nvSpPr>
        <p:spPr>
          <a:xfrm>
            <a:off x="5010912"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1544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pH</a:t>
            </a:r>
          </a:p>
        </p:txBody>
      </p:sp>
      <p:sp>
        <p:nvSpPr>
          <p:cNvPr id="33" name="TextBox 32"/>
          <p:cNvSpPr txBox="1"/>
          <p:nvPr/>
        </p:nvSpPr>
        <p:spPr>
          <a:xfrm>
            <a:off x="5010912" y="437388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7.14</a:t>
            </a:r>
          </a:p>
        </p:txBody>
      </p:sp>
      <p:sp>
        <p:nvSpPr>
          <p:cNvPr id="34" name="Rounded Rectangle 33"/>
          <p:cNvSpPr/>
          <p:nvPr/>
        </p:nvSpPr>
        <p:spPr>
          <a:xfrm>
            <a:off x="7242048"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1544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PaCO2</a:t>
            </a:r>
          </a:p>
        </p:txBody>
      </p:sp>
      <p:sp>
        <p:nvSpPr>
          <p:cNvPr id="36" name="TextBox 35"/>
          <p:cNvSpPr txBox="1"/>
          <p:nvPr/>
        </p:nvSpPr>
        <p:spPr>
          <a:xfrm>
            <a:off x="7242048" y="437388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18</a:t>
            </a:r>
          </a:p>
        </p:txBody>
      </p:sp>
      <p:sp>
        <p:nvSpPr>
          <p:cNvPr id="37" name="Rounded Rectangle 36"/>
          <p:cNvSpPr/>
          <p:nvPr/>
        </p:nvSpPr>
        <p:spPr>
          <a:xfrm>
            <a:off x="9473184"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1544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HCO3</a:t>
            </a:r>
          </a:p>
        </p:txBody>
      </p:sp>
      <p:sp>
        <p:nvSpPr>
          <p:cNvPr id="39" name="TextBox 38"/>
          <p:cNvSpPr txBox="1"/>
          <p:nvPr/>
        </p:nvSpPr>
        <p:spPr>
          <a:xfrm>
            <a:off x="9473184" y="437388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6</a:t>
            </a:r>
          </a:p>
        </p:txBody>
      </p:sp>
      <p:sp>
        <p:nvSpPr>
          <p:cNvPr id="40" name="Rounded Rectangle 39"/>
          <p:cNvSpPr/>
          <p:nvPr/>
        </p:nvSpPr>
        <p:spPr>
          <a:xfrm>
            <a:off x="548640"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7335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SBE</a:t>
            </a:r>
          </a:p>
        </p:txBody>
      </p:sp>
      <p:sp>
        <p:nvSpPr>
          <p:cNvPr id="42" name="TextBox 41"/>
          <p:cNvSpPr txBox="1"/>
          <p:nvPr/>
        </p:nvSpPr>
        <p:spPr>
          <a:xfrm>
            <a:off x="548640" y="495300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-21</a:t>
            </a:r>
          </a:p>
        </p:txBody>
      </p:sp>
      <p:sp>
        <p:nvSpPr>
          <p:cNvPr id="43" name="Rounded Rectangle 42"/>
          <p:cNvSpPr/>
          <p:nvPr/>
        </p:nvSpPr>
        <p:spPr>
          <a:xfrm>
            <a:off x="2779776"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79776" y="47335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Na/Cl</a:t>
            </a:r>
          </a:p>
        </p:txBody>
      </p:sp>
      <p:sp>
        <p:nvSpPr>
          <p:cNvPr id="45" name="TextBox 44"/>
          <p:cNvSpPr txBox="1"/>
          <p:nvPr/>
        </p:nvSpPr>
        <p:spPr>
          <a:xfrm>
            <a:off x="2779776" y="495300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136/100</a:t>
            </a:r>
          </a:p>
        </p:txBody>
      </p:sp>
      <p:sp>
        <p:nvSpPr>
          <p:cNvPr id="46" name="Rounded Rectangle 45"/>
          <p:cNvSpPr/>
          <p:nvPr/>
        </p:nvSpPr>
        <p:spPr>
          <a:xfrm>
            <a:off x="5010912"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10912" y="47335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Glucose</a:t>
            </a:r>
          </a:p>
        </p:txBody>
      </p:sp>
      <p:sp>
        <p:nvSpPr>
          <p:cNvPr id="48" name="TextBox 47"/>
          <p:cNvSpPr txBox="1"/>
          <p:nvPr/>
        </p:nvSpPr>
        <p:spPr>
          <a:xfrm>
            <a:off x="5010912" y="495300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45</a:t>
            </a:r>
          </a:p>
        </p:txBody>
      </p:sp>
      <p:sp>
        <p:nvSpPr>
          <p:cNvPr id="49" name="Rounded Rectangle 48"/>
          <p:cNvSpPr/>
          <p:nvPr/>
        </p:nvSpPr>
        <p:spPr>
          <a:xfrm>
            <a:off x="7242048"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42048" y="47335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Lactate</a:t>
            </a:r>
          </a:p>
        </p:txBody>
      </p:sp>
      <p:sp>
        <p:nvSpPr>
          <p:cNvPr id="51" name="TextBox 50"/>
          <p:cNvSpPr txBox="1"/>
          <p:nvPr/>
        </p:nvSpPr>
        <p:spPr>
          <a:xfrm>
            <a:off x="7242048" y="4953000"/>
            <a:ext cx="2139696" cy="158496"/>
          </a:xfrm>
          <a:prstGeom prst="rect">
            <a:avLst/>
          </a:prstGeom>
          <a:noFill/>
        </p:spPr>
        <p:txBody>
          <a:bodyPr wrap="square" lIns="0" rIns="0" tIns="0" bIns="0" anchor="ctr">
            <a:spAutoFit/>
          </a:bodyPr>
          <a:lstStyle/>
          <a:p>
            <a:pPr algn="ctr"/>
            <a:r>
              <a:rPr sz="1800" b="1" i="0">
                <a:solidFill>
                  <a:srgbClr val="1B2A3A"/>
                </a:solidFill>
                <a:latin typeface="Helvetica"/>
              </a:rPr>
              <a:t>3.0</a:t>
            </a:r>
          </a:p>
        </p:txBody>
      </p:sp>
      <p:sp>
        <p:nvSpPr>
          <p:cNvPr id="52" name="Rectangle 51"/>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BOTH: AMMONIA LEVEL, STOP PROTEIN, DEXTROSE. A: AMMONIA SCAVENGERS IF </a:t>
            </a:r>
          </a:p>
        </p:txBody>
      </p:sp>
      <p:sp>
        <p:nvSpPr>
          <p:cNvPr id="54" name="Rounded Rectangle 53"/>
          <p:cNvSpPr/>
          <p:nvPr/>
        </p:nvSpPr>
        <p:spPr>
          <a:xfrm>
            <a:off x="548640"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pH</a:t>
            </a:r>
          </a:p>
        </p:txBody>
      </p:sp>
      <p:sp>
        <p:nvSpPr>
          <p:cNvPr id="56" name="TextBox 55"/>
          <p:cNvSpPr txBox="1"/>
          <p:nvPr/>
        </p:nvSpPr>
        <p:spPr>
          <a:xfrm>
            <a:off x="548640"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7.45</a:t>
            </a:r>
          </a:p>
        </p:txBody>
      </p:sp>
      <p:sp>
        <p:nvSpPr>
          <p:cNvPr id="57" name="Rounded Rectangle 56"/>
          <p:cNvSpPr/>
          <p:nvPr/>
        </p:nvSpPr>
        <p:spPr>
          <a:xfrm>
            <a:off x="2779776"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PaCO2</a:t>
            </a:r>
          </a:p>
        </p:txBody>
      </p:sp>
      <p:sp>
        <p:nvSpPr>
          <p:cNvPr id="59" name="TextBox 58"/>
          <p:cNvSpPr txBox="1"/>
          <p:nvPr/>
        </p:nvSpPr>
        <p:spPr>
          <a:xfrm>
            <a:off x="2779776"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60" name="Rounded Rectangle 59"/>
          <p:cNvSpPr/>
          <p:nvPr/>
        </p:nvSpPr>
        <p:spPr>
          <a:xfrm>
            <a:off x="5010912"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HCO3</a:t>
            </a:r>
          </a:p>
        </p:txBody>
      </p:sp>
      <p:sp>
        <p:nvSpPr>
          <p:cNvPr id="62" name="TextBox 61"/>
          <p:cNvSpPr txBox="1"/>
          <p:nvPr/>
        </p:nvSpPr>
        <p:spPr>
          <a:xfrm>
            <a:off x="5010912"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22</a:t>
            </a:r>
          </a:p>
        </p:txBody>
      </p:sp>
      <p:sp>
        <p:nvSpPr>
          <p:cNvPr id="63" name="Rounded Rectangle 62"/>
          <p:cNvSpPr/>
          <p:nvPr/>
        </p:nvSpPr>
        <p:spPr>
          <a:xfrm>
            <a:off x="7242048"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Na/Cl</a:t>
            </a:r>
          </a:p>
        </p:txBody>
      </p:sp>
      <p:sp>
        <p:nvSpPr>
          <p:cNvPr id="65" name="TextBox 64"/>
          <p:cNvSpPr txBox="1"/>
          <p:nvPr/>
        </p:nvSpPr>
        <p:spPr>
          <a:xfrm>
            <a:off x="7242048"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138/105</a:t>
            </a:r>
          </a:p>
        </p:txBody>
      </p:sp>
      <p:sp>
        <p:nvSpPr>
          <p:cNvPr id="66" name="Rounded Rectangle 65"/>
          <p:cNvSpPr/>
          <p:nvPr/>
        </p:nvSpPr>
        <p:spPr>
          <a:xfrm>
            <a:off x="9473184"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Glucose</a:t>
            </a:r>
          </a:p>
        </p:txBody>
      </p:sp>
      <p:sp>
        <p:nvSpPr>
          <p:cNvPr id="68" name="TextBox 67"/>
          <p:cNvSpPr txBox="1"/>
          <p:nvPr/>
        </p:nvSpPr>
        <p:spPr>
          <a:xfrm>
            <a:off x="9473184" y="612648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90</a:t>
            </a:r>
          </a:p>
        </p:txBody>
      </p:sp>
      <p:sp>
        <p:nvSpPr>
          <p:cNvPr id="69" name="Rounded Rectangle 68"/>
          <p:cNvSpPr/>
          <p:nvPr/>
        </p:nvSpPr>
        <p:spPr>
          <a:xfrm>
            <a:off x="548640"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48640"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 Lactate</a:t>
            </a:r>
          </a:p>
        </p:txBody>
      </p:sp>
      <p:sp>
        <p:nvSpPr>
          <p:cNvPr id="71" name="TextBox 70"/>
          <p:cNvSpPr txBox="1"/>
          <p:nvPr/>
        </p:nvSpPr>
        <p:spPr>
          <a:xfrm>
            <a:off x="548640"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1.5</a:t>
            </a:r>
          </a:p>
        </p:txBody>
      </p:sp>
      <p:sp>
        <p:nvSpPr>
          <p:cNvPr id="72" name="Rounded Rectangle 71"/>
          <p:cNvSpPr/>
          <p:nvPr/>
        </p:nvSpPr>
        <p:spPr>
          <a:xfrm>
            <a:off x="2779776"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79776"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pH</a:t>
            </a:r>
          </a:p>
        </p:txBody>
      </p:sp>
      <p:sp>
        <p:nvSpPr>
          <p:cNvPr id="74" name="TextBox 73"/>
          <p:cNvSpPr txBox="1"/>
          <p:nvPr/>
        </p:nvSpPr>
        <p:spPr>
          <a:xfrm>
            <a:off x="2779776"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7.30</a:t>
            </a:r>
          </a:p>
        </p:txBody>
      </p:sp>
      <p:sp>
        <p:nvSpPr>
          <p:cNvPr id="75" name="Rounded Rectangle 74"/>
          <p:cNvSpPr/>
          <p:nvPr/>
        </p:nvSpPr>
        <p:spPr>
          <a:xfrm>
            <a:off x="5010912"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10912"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PaCO2</a:t>
            </a:r>
          </a:p>
        </p:txBody>
      </p:sp>
      <p:sp>
        <p:nvSpPr>
          <p:cNvPr id="77" name="TextBox 76"/>
          <p:cNvSpPr txBox="1"/>
          <p:nvPr/>
        </p:nvSpPr>
        <p:spPr>
          <a:xfrm>
            <a:off x="5010912"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25</a:t>
            </a:r>
          </a:p>
        </p:txBody>
      </p:sp>
      <p:sp>
        <p:nvSpPr>
          <p:cNvPr id="78" name="Rounded Rectangle 77"/>
          <p:cNvSpPr/>
          <p:nvPr/>
        </p:nvSpPr>
        <p:spPr>
          <a:xfrm>
            <a:off x="7242048"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242048"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HCO3</a:t>
            </a:r>
          </a:p>
        </p:txBody>
      </p:sp>
      <p:sp>
        <p:nvSpPr>
          <p:cNvPr id="80" name="TextBox 79"/>
          <p:cNvSpPr txBox="1"/>
          <p:nvPr/>
        </p:nvSpPr>
        <p:spPr>
          <a:xfrm>
            <a:off x="7242048"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12</a:t>
            </a:r>
          </a:p>
        </p:txBody>
      </p:sp>
      <p:sp>
        <p:nvSpPr>
          <p:cNvPr id="81" name="Rounded Rectangle 80"/>
          <p:cNvSpPr/>
          <p:nvPr/>
        </p:nvSpPr>
        <p:spPr>
          <a:xfrm>
            <a:off x="9473184"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473184" y="61965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Na/Cl</a:t>
            </a:r>
          </a:p>
        </p:txBody>
      </p:sp>
      <p:sp>
        <p:nvSpPr>
          <p:cNvPr id="83" name="TextBox 82"/>
          <p:cNvSpPr txBox="1"/>
          <p:nvPr/>
        </p:nvSpPr>
        <p:spPr>
          <a:xfrm>
            <a:off x="9473184" y="641604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138/102</a:t>
            </a:r>
          </a:p>
        </p:txBody>
      </p:sp>
      <p:sp>
        <p:nvSpPr>
          <p:cNvPr id="84" name="Rounded Rectangle 83"/>
          <p:cNvSpPr/>
          <p:nvPr/>
        </p:nvSpPr>
        <p:spPr>
          <a:xfrm>
            <a:off x="548640"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8640" y="64861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Glucose</a:t>
            </a:r>
          </a:p>
        </p:txBody>
      </p:sp>
      <p:sp>
        <p:nvSpPr>
          <p:cNvPr id="86" name="TextBox 85"/>
          <p:cNvSpPr txBox="1"/>
          <p:nvPr/>
        </p:nvSpPr>
        <p:spPr>
          <a:xfrm>
            <a:off x="548640" y="670560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87" name="Rounded Rectangle 86"/>
          <p:cNvSpPr/>
          <p:nvPr/>
        </p:nvSpPr>
        <p:spPr>
          <a:xfrm>
            <a:off x="2779776"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779776" y="648614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 Lactate</a:t>
            </a:r>
          </a:p>
        </p:txBody>
      </p:sp>
      <p:sp>
        <p:nvSpPr>
          <p:cNvPr id="89" name="TextBox 88"/>
          <p:cNvSpPr txBox="1"/>
          <p:nvPr/>
        </p:nvSpPr>
        <p:spPr>
          <a:xfrm>
            <a:off x="2779776" y="6705600"/>
            <a:ext cx="2139696" cy="-131064"/>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9 · TWO ENCEPHALOPATHIC NEONATES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 fed well until day 2, now lethargic and tachypnoeic; sepsis label but afebrile, clear chest. B: vomiting, lethargic, deep rapid breathing, thrombocytopenia, ketonuria.</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 [H+] = 24 x 26 / 20 = 31 -&gt; pH 7.51 - matches. B: [H+] = 24 x 18 / 6 = 72 -&gt; pH 7.14 - matches.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 7.51 - alkalaemia. B: 7.14 -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 PaCO2 26 (low) -&gt; respiratory alkalosis. B: HCO3 6 (low) -&gt;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 acute resp alkalosis expected HCO3 ~21.2; actual 20 - appropriate. B: Winter's predicted PaCO2 17 +/-2; actual 18 - appropriate.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 AG = 138 - (104 + 20) = 14 (normal). B: AG = 136 - (100 + 6) = 30 (markedly raised).</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A 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138 - 104 = 34</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Low-normal.</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 UNMEASURED</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14 - 1.8 = 12.2</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 Mechanism: respiratory alkalosis.</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B SID</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136 - 100 = 36</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B UNMEASURED</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30 - 3 = 27</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raised - organic acids/ketones.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9 · TWO ENCEPHALOPATHIC NEONATES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Baby A: respiratory alkalosis with no fever or distress points away from sepsis and toward central respiratory stimulation — the classic driver is hyperammonaemia (urea cycle defect). Baby B: profound HAGMA with ketones and hypoglycaemia is the classic pattern of an organic acidaemia (methylmalonic, propionic) or a fatty acid oxidation defect.</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Ammonia sample: on ice, delivered within 15 minutes. Delayed samples falsely elevate.</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Stop protein, give dextrose, treat the acute crisis while awaiting confirmation.</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Lactate alone does not explain the gap — ketones and organic acids fill the rest.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9 · TWO ENCEPHALOPATHIC NEONATES</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Name the primary disorder in each baby. Is compensation appropriate in each?</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A: respiratory alkalosis, appropriate. B: metabolic acidosis, appropriate.</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Which features does sepsis alone fail to explain?</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A: respiratory alkalosis without fever or distress. B: severe HAGMA with ketones and hypoglycaemia.</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Baby B has an anion gap of 30 but lactate is only 3. What fills the rest?</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Ketones (urine 3+) and organic acids from inborn error of metabolism.</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Neonatal encephalopathy + abnormal gas = metabolic screen; ammonia on ice is critical. SID helps distinguish chloride-driven from unmeasured-anion-driven acidosis.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10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HUS-like</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3-year-old, 5 days after bloody diarrhoea, now oliguric and pale. Hb 6.2 g/dL, platelets 40,000/uL, creatinine 3.8 mg/dL.</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7.22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25</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10</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SBE</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-16</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131</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6.8</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104</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3.0</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Phosphate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9.5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iCa</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0.92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DIALYSIS, TREAT HYPERKALAEMIA AND HYPOCALCAEMIA.</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18</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135</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4.5</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3.2</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Phosphate</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6.0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iCa</a:t>
            </a:r>
          </a:p>
        </p:txBody>
      </p:sp>
      <p:sp>
        <p:nvSpPr>
          <p:cNvPr id="68" name="TextBox 67"/>
          <p:cNvSpPr txBox="1"/>
          <p:nvPr/>
        </p:nvSpPr>
        <p:spPr>
          <a:xfrm>
            <a:off x="7242048"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10 · HUS-LIKE</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Bloody diarrhoea followed by oliguria and pallor, with anaemia, thrombocytopenia, and renal failure - HUS-like picture.</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25 / 10 = 60 -&gt; pH 7.22 - matches.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7.22 -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10 (low) -&gt;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Winter's: PaCO2 = 1.5 x 10 + 8 = 23 +/-2. Actual 25 - appropriate.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131 - (104 + 10) = 17. Albumin-corrected AG = 17 + 2.5 x (4 - 3.0) = 19.5 (raised).</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131 - 104 = 27</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low - chloride-driven.</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3.0 (alkalinising), phosphate 9.5 (markedly acidifying)</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Net high Atot.</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19.5 - 0 = 19.5</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Raised - urate, oxalate, retained organic anions.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Three forces: low SID + high Atot (phosphate) + unmeasured anions.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10 · HUS-LIKE</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HUS is a triple-hit acidosis. (1) Renal failure → phosphate retention raises Atot → acidifying. (2) Volume resuscitation with saline → low SID → chloride-driven acidosis. (3) Retained urate, oxalate, and other anions → unmeasured anions → HAGMA. The three forces stack, which is why the child looks worse than the numbers suggest.</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Hyperkalaemia and hypocalcaemia are immediately life-threatening — treat before dialysis.</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Avoid bicarbonate unless pH &lt; 7.1 — it can worsen hypocalcaemia and hyperkalaemia.</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SID, Atot, and unmeasured anions each tell a different part of the story.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10 · HUS-LIKE</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Is compensation appropriate? What are the anion gap and the albumin-corrected anion gap?</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Appropriate. AG 17, corrected AG 19.5.</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Calculate the delta ratio. What does it tell you?</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0.36 -&gt; mixed NAGMA + HAGMA.</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Using SID and Atot, name the three separate forces acidifying this child.</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Low SID (chloride-driven), high Atot (phosphate), unmeasured anions.</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HUS = mixed acidosis; hyperkalaemia and hypocalcaemia are immediate threats. SID, Atot, and unmeasured anions each tell a different part of the story.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11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Hepatitis A encephalopathy</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6-year-old with hepatitis A, grade II encephalopathy. INR 4.2, ammonia 180 umol/L.</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7.49</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SBE</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3.0</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2.2</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6" name="TextBox 35"/>
          <p:cNvSpPr txBox="1"/>
          <p:nvPr/>
        </p:nvSpPr>
        <p:spPr>
          <a:xfrm>
            <a:off x="7242048"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5.5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9" name="TextBox 38"/>
          <p:cNvSpPr txBox="1"/>
          <p:nvPr/>
        </p:nvSpPr>
        <p:spPr>
          <a:xfrm>
            <a:off x="9473184"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45</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DEXTROSE, LACTULOSE, AMMONIA SCAVENGERS.</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7.42</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32</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135</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2.5</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65" name="TextBox 64"/>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68" name="TextBox 67"/>
          <p:cNvSpPr txBox="1"/>
          <p:nvPr/>
        </p:nvSpPr>
        <p:spPr>
          <a:xfrm>
            <a:off x="7242048"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11 · HEPATITIS A ENCEPHALOPATHY</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Hepatitis A with grade II encephalopathy, coagulopathy, hyperammonaemia.</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28 / 21 = 32 -&gt; pH 7.49 - matches.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7.49 - alkalaemia.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PaCO2 28 (low) -&gt; respiratory alkalosis.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Acute resp alkalosis: HCO3 falls ~2 per 10 mmHg fall in PaCO2. PaCO2 28 is 12 below 40 -&gt; expected HCO3 ~21.6. Actual 21 - appropriate.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132 - (98 + 21) = 13. Corrected AG = 13 + 2.5 x (4 - 2.2) = 17.5 (HAGMA masked by hypoalbuminaemia).</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132 - 98 = 34</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Low-normal.</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2.2</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low - alkalinising, masking HAGMA.</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17.5 - 5.5 = 12</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Raised.</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Masked HAGMA + respiratory alkalosis.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11 · HEPATITIS A ENCEPHALOPATHY</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Ammonia from liver failure stimulates the respiratory centre → respiratory alkalosis. Meanwhile, hypoalbuminaemia (low Atot) masks a HAGMA from lactic acidosis and impaired lactate clearance. The SBE looks normal because the alkalinising and acidifying forces cancel. Correct the AG for albumin and the HAGMA appears.</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A normal SBE in a sick patient is often a lie — check the albumin-corrected AG.</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Hypoglycaemia in liver failure is silent and dangerous — check glucose hourly.</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Lactate in liver failure reflects both perfusion and hepatic clearance failure.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11 · HEPATITIS A ENCEPHALOPATHY</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What is the primary disorder, and why is this child alkaline?</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Respiratory alkalosis due to hyperventilation from ammonia stimulating respiratory centre.</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Calculate the anion gap, then correct it for albumin. What changes?</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AG 13, corrected AG 17.5. Low albumin was masking a HAGMA.</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The base excess is -1, which looks normal. Why is that misleading? How many processes are running at once?</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Yes - because HAGMA is masked by hypoalbuminaemia. Multiple processes: respiratory alkalosis, HAGMA (lactic acidosis), hypoglycaemia.</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Hepatitis A encephalopathy = respiratory alkalosis + HAGMA; check glucose. Always correct the AG for albumin, and check SID - the SBE may look normal while a HAGMA is masked.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12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Fasting hypoglycaemia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18-month-old, previously well, fasted overnight after gastroenteritis and presented with a seizure. Liver palpable 3 cm. ALT 180 U/L, ammonia 110 umol/L, free fatty acids raised.</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30</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7.36</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36</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SBE</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Na/Cl</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138/105</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2.0</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b-OHB</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0.3</a:t>
            </a:r>
          </a:p>
        </p:txBody>
      </p:sp>
      <p:sp>
        <p:nvSpPr>
          <p:cNvPr id="34" name="Rectangle 33"/>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CRITICAL SAMPLE, THEN DEXTROSE.</a:t>
            </a:r>
          </a:p>
        </p:txBody>
      </p:sp>
      <p:sp>
        <p:nvSpPr>
          <p:cNvPr id="36" name="Rounded Rectangle 35"/>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8" name="TextBox 37"/>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39" name="Rounded Rectangle 38"/>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41" name="TextBox 40"/>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7.38</a:t>
            </a:r>
          </a:p>
        </p:txBody>
      </p:sp>
      <p:sp>
        <p:nvSpPr>
          <p:cNvPr id="42" name="Rounded Rectangle 41"/>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4" name="TextBox 43"/>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38</a:t>
            </a:r>
          </a:p>
        </p:txBody>
      </p:sp>
      <p:sp>
        <p:nvSpPr>
          <p:cNvPr id="45" name="Rounded Rectangle 44"/>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47" name="TextBox 46"/>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22</a:t>
            </a:r>
          </a:p>
        </p:txBody>
      </p:sp>
      <p:sp>
        <p:nvSpPr>
          <p:cNvPr id="48" name="Rounded Rectangle 47"/>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SBE</a:t>
            </a:r>
          </a:p>
        </p:txBody>
      </p:sp>
      <p:sp>
        <p:nvSpPr>
          <p:cNvPr id="50" name="TextBox 49"/>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a:t>
            </a:r>
          </a:p>
        </p:txBody>
      </p:sp>
      <p:sp>
        <p:nvSpPr>
          <p:cNvPr id="51" name="Rounded Rectangle 50"/>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Na/Cl</a:t>
            </a:r>
          </a:p>
        </p:txBody>
      </p:sp>
      <p:sp>
        <p:nvSpPr>
          <p:cNvPr id="53" name="TextBox 52"/>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138/105</a:t>
            </a:r>
          </a:p>
        </p:txBody>
      </p:sp>
      <p:sp>
        <p:nvSpPr>
          <p:cNvPr id="54" name="Rounded Rectangle 53"/>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Lactate</a:t>
            </a:r>
          </a:p>
        </p:txBody>
      </p:sp>
      <p:sp>
        <p:nvSpPr>
          <p:cNvPr id="56" name="TextBox 55"/>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1.5</a:t>
            </a:r>
          </a:p>
        </p:txBody>
      </p:sp>
      <p:sp>
        <p:nvSpPr>
          <p:cNvPr id="57" name="Rounded Rectangle 56"/>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b-OHB</a:t>
            </a:r>
          </a:p>
        </p:txBody>
      </p:sp>
      <p:sp>
        <p:nvSpPr>
          <p:cNvPr id="59" name="TextBox 58"/>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0.2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12 · FASTING HYPOGLYCAEMIA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Fasting hypoglycaemia with seizure, hepatomegaly, raised ALT and ammonia, raised free fatty acids - key is the inappropriately low ketones.</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36 / 20 = 43 -&gt; pH 7.36 - matches.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7.36 - normal.</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20 (slightly low), SBE -4 -&gt; mild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Not applicable (primary metabolic).</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138 - (105 + 20) = 13 (normal).</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138 - 105 = 33</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Low-normal - mild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not given</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13 - 2 = 11</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Acidosis mild and chloride-driven; the story is ketogenesis failure.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12 · FASTING HYPOGLYCAEMIA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A normal fasting child mounts ketosis — β-OHB rises to supply the brain with alternative fuel. When fatty acid oxidation or ketogenesis is impaired, β-OHB stays low despite high free fatty acids. This is the classic pattern of MCAD deficiency and other fatty acid oxidation defects. Hyperinsulinism would show low FFA and low ketones.</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Draw the critical sample BEFORE giving dextrose — the diagnostic window closes once glucose is corrected.</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Critical sample: glucose, insulin, C-peptide, cortisol, growth hormone, ketones, free fatty acids, acylcarnitine, ammonia, lactate, LFTs.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A fasting child with hypoglycaemia and no ketosis needs metabolic work-up even if the gas looks normal.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12 · FASTING HYPOGLYCAEMIA</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The gas looks almost normal. Why is that the most worrying finding?</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In a fasting child, expected ketosis and metabolic acidosis. Normal gas with low b-OHB (0.3) indicates failure of ketogenesis.</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What should a fasting child gas and ketones look like?</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Metabolic acidosis with high anion gap due to ketones.</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Free fatty acids are high but ketones are low. What does that mean? How would hyperinsulinism differ?</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Block in fatty acid oxidation or ketogenesis (e.g., MCAD deficiency). Hyperinsulinism would have low FFA and low ketones.</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Fasting hypoglycaemia with low ketones = think fatty acid oxidation defect; critical sample before treatment. SID confirms the acidosis was mild and chloride-driven, not the primary problem.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lIns="0" rIns="0" tIns="0" bIns="0" anchor="t">
            <a:spAutoFit/>
          </a:bodyPr>
          <a:lstStyle/>
          <a:p>
            <a:pPr algn="l"/>
            <a:r>
              <a:rPr sz="900" b="1" i="0">
                <a:solidFill>
                  <a:srgbClr val="0F6E6E"/>
                </a:solidFill>
                <a:latin typeface="Helvetica"/>
              </a:rPr>
              <a:t>CASE 13 OF 13</a:t>
            </a:r>
          </a:p>
        </p:txBody>
      </p:sp>
      <p:sp>
        <p:nvSpPr>
          <p:cNvPr id="3" name="TextBox 2"/>
          <p:cNvSpPr txBox="1"/>
          <p:nvPr/>
        </p:nvSpPr>
        <p:spPr>
          <a:xfrm>
            <a:off x="548640" y="685800"/>
            <a:ext cx="10972800" cy="731520"/>
          </a:xfrm>
          <a:prstGeom prst="rect">
            <a:avLst/>
          </a:prstGeom>
          <a:noFill/>
        </p:spPr>
        <p:txBody>
          <a:bodyPr wrap="square" lIns="0" rIns="0" tIns="0" bIns="0" anchor="t">
            <a:spAutoFit/>
          </a:bodyPr>
          <a:lstStyle/>
          <a:p>
            <a:pPr algn="l"/>
            <a:r>
              <a:rPr sz="2600" b="1" i="0">
                <a:solidFill>
                  <a:srgbClr val="1B2A3A"/>
                </a:solidFill>
                <a:latin typeface="Helvetica"/>
              </a:rPr>
              <a:t>Shocked 2-week-old boy</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10607040" cy="274320"/>
          </a:xfrm>
          <a:prstGeom prst="rect">
            <a:avLst/>
          </a:prstGeom>
          <a:noFill/>
        </p:spPr>
        <p:txBody>
          <a:bodyPr wrap="square" lIns="0" rIns="0" t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2-week-old boy with 3 days of vomiting and poor feeding, now mottled and lethargic. Genitalia look normal. Weight below birth weight.</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1752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7.27</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28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912"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12.5</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SBE</a:t>
            </a:r>
          </a:p>
        </p:txBody>
      </p:sp>
      <p:sp>
        <p:nvSpPr>
          <p:cNvPr id="21" name="TextBox 20"/>
          <p:cNvSpPr txBox="1"/>
          <p:nvPr/>
        </p:nvSpPr>
        <p:spPr>
          <a:xfrm>
            <a:off x="7242048"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-13</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73184" y="357530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122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7.8</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444398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33" name="TextBox 32"/>
          <p:cNvSpPr txBox="1"/>
          <p:nvPr/>
        </p:nvSpPr>
        <p:spPr>
          <a:xfrm>
            <a:off x="5010912" y="4663440"/>
            <a:ext cx="2139696" cy="448056"/>
          </a:xfrm>
          <a:prstGeom prst="rect">
            <a:avLst/>
          </a:prstGeom>
          <a:noFill/>
        </p:spPr>
        <p:txBody>
          <a:bodyPr wrap="square" lIns="0" rIns="0" tIns="0" bIns="0" anchor="ctr">
            <a:spAutoFit/>
          </a:bodyPr>
          <a:lstStyle/>
          <a:p>
            <a:pPr algn="ctr"/>
            <a:r>
              <a:rPr sz="1800" b="1" i="0">
                <a:solidFill>
                  <a:srgbClr val="1B2A3A"/>
                </a:solidFill>
                <a:latin typeface="Helvetica"/>
              </a:rPr>
              <a:t>40</a:t>
            </a:r>
          </a:p>
        </p:txBody>
      </p:sp>
      <p:sp>
        <p:nvSpPr>
          <p:cNvPr id="34" name="Rectangle 33"/>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349240"/>
            <a:ext cx="11064240" cy="365760"/>
          </a:xfrm>
          <a:prstGeom prst="rect">
            <a:avLst/>
          </a:prstGeom>
          <a:noFill/>
        </p:spPr>
        <p:txBody>
          <a:bodyPr wrap="square" lIns="0" rIns="0" tIns="0" bIns="0" anchor="ctr">
            <a:spAutoFit/>
          </a:bodyPr>
          <a:lstStyle/>
          <a:p>
            <a:pPr algn="l"/>
            <a:r>
              <a:rPr sz="1000" b="1" i="0">
                <a:solidFill>
                  <a:srgbClr val="FFFFFF"/>
                </a:solidFill>
                <a:latin typeface="Helvetica"/>
              </a:rPr>
              <a:t>POST-INTERVENTION · HYDROCORTISONE, FLUIDS WITH DEXTROSE, TREAT HYPERKALAEMIA.</a:t>
            </a:r>
          </a:p>
        </p:txBody>
      </p:sp>
      <p:sp>
        <p:nvSpPr>
          <p:cNvPr id="36" name="Rounded Rectangle 35"/>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pH</a:t>
            </a:r>
          </a:p>
        </p:txBody>
      </p:sp>
      <p:sp>
        <p:nvSpPr>
          <p:cNvPr id="38" name="TextBox 37"/>
          <p:cNvSpPr txBox="1"/>
          <p:nvPr/>
        </p:nvSpPr>
        <p:spPr>
          <a:xfrm>
            <a:off x="548640"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7.35</a:t>
            </a:r>
          </a:p>
        </p:txBody>
      </p:sp>
      <p:sp>
        <p:nvSpPr>
          <p:cNvPr id="39" name="Rounded Rectangle 38"/>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79776"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PaCO2</a:t>
            </a:r>
          </a:p>
        </p:txBody>
      </p:sp>
      <p:sp>
        <p:nvSpPr>
          <p:cNvPr id="41" name="TextBox 40"/>
          <p:cNvSpPr txBox="1"/>
          <p:nvPr/>
        </p:nvSpPr>
        <p:spPr>
          <a:xfrm>
            <a:off x="2779776"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35</a:t>
            </a:r>
          </a:p>
        </p:txBody>
      </p:sp>
      <p:sp>
        <p:nvSpPr>
          <p:cNvPr id="42" name="Rounded Rectangle 41"/>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0912"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HCO3</a:t>
            </a:r>
          </a:p>
        </p:txBody>
      </p:sp>
      <p:sp>
        <p:nvSpPr>
          <p:cNvPr id="44" name="TextBox 43"/>
          <p:cNvSpPr txBox="1"/>
          <p:nvPr/>
        </p:nvSpPr>
        <p:spPr>
          <a:xfrm>
            <a:off x="5010912"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18</a:t>
            </a:r>
          </a:p>
        </p:txBody>
      </p:sp>
      <p:sp>
        <p:nvSpPr>
          <p:cNvPr id="45" name="Rounded Rectangle 44"/>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42048"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SBE</a:t>
            </a:r>
          </a:p>
        </p:txBody>
      </p:sp>
      <p:sp>
        <p:nvSpPr>
          <p:cNvPr id="47" name="TextBox 46"/>
          <p:cNvSpPr txBox="1"/>
          <p:nvPr/>
        </p:nvSpPr>
        <p:spPr>
          <a:xfrm>
            <a:off x="7242048"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-5</a:t>
            </a:r>
          </a:p>
        </p:txBody>
      </p:sp>
      <p:sp>
        <p:nvSpPr>
          <p:cNvPr id="48" name="Rounded Rectangle 47"/>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73184" y="5907024"/>
            <a:ext cx="2139696" cy="256032"/>
          </a:xfrm>
          <a:prstGeom prst="rect">
            <a:avLst/>
          </a:prstGeom>
          <a:noFill/>
        </p:spPr>
        <p:txBody>
          <a:bodyPr wrap="square" lIns="0" rIns="0" tIns="0" bIns="0" anchor="t">
            <a:spAutoFit/>
          </a:bodyPr>
          <a:lstStyle/>
          <a:p>
            <a:pPr algn="ctr"/>
            <a:r>
              <a:rPr sz="900" b="1" i="0">
                <a:solidFill>
                  <a:srgbClr val="5A6672"/>
                </a:solidFill>
                <a:latin typeface="Helvetica"/>
              </a:rPr>
              <a:t>Na</a:t>
            </a:r>
          </a:p>
        </p:txBody>
      </p:sp>
      <p:sp>
        <p:nvSpPr>
          <p:cNvPr id="50" name="TextBox 49"/>
          <p:cNvSpPr txBox="1"/>
          <p:nvPr/>
        </p:nvSpPr>
        <p:spPr>
          <a:xfrm>
            <a:off x="9473184" y="612648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135</a:t>
            </a:r>
          </a:p>
        </p:txBody>
      </p:sp>
      <p:sp>
        <p:nvSpPr>
          <p:cNvPr id="51" name="Rounded Rectangle 50"/>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K</a:t>
            </a:r>
          </a:p>
        </p:txBody>
      </p:sp>
      <p:sp>
        <p:nvSpPr>
          <p:cNvPr id="53" name="TextBox 52"/>
          <p:cNvSpPr txBox="1"/>
          <p:nvPr/>
        </p:nvSpPr>
        <p:spPr>
          <a:xfrm>
            <a:off x="548640"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5.0</a:t>
            </a:r>
          </a:p>
        </p:txBody>
      </p:sp>
      <p:sp>
        <p:nvSpPr>
          <p:cNvPr id="54" name="Rounded Rectangle 53"/>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79776"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Cl</a:t>
            </a:r>
          </a:p>
        </p:txBody>
      </p:sp>
      <p:sp>
        <p:nvSpPr>
          <p:cNvPr id="56" name="TextBox 55"/>
          <p:cNvSpPr txBox="1"/>
          <p:nvPr/>
        </p:nvSpPr>
        <p:spPr>
          <a:xfrm>
            <a:off x="2779776"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100</a:t>
            </a:r>
          </a:p>
        </p:txBody>
      </p:sp>
      <p:sp>
        <p:nvSpPr>
          <p:cNvPr id="57" name="Rounded Rectangle 56"/>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10912" y="6341364"/>
            <a:ext cx="2139696" cy="256032"/>
          </a:xfrm>
          <a:prstGeom prst="rect">
            <a:avLst/>
          </a:prstGeom>
          <a:noFill/>
        </p:spPr>
        <p:txBody>
          <a:bodyPr wrap="square" lIns="0" rIns="0" tIns="0" bIns="0" anchor="t">
            <a:spAutoFit/>
          </a:bodyPr>
          <a:lstStyle/>
          <a:p>
            <a:pPr algn="ctr"/>
            <a:r>
              <a:rPr sz="900" b="1" i="0">
                <a:solidFill>
                  <a:srgbClr val="5A6672"/>
                </a:solidFill>
                <a:latin typeface="Helvetica"/>
              </a:rPr>
              <a:t>Glucose</a:t>
            </a:r>
          </a:p>
        </p:txBody>
      </p:sp>
      <p:sp>
        <p:nvSpPr>
          <p:cNvPr id="59" name="TextBox 58"/>
          <p:cNvSpPr txBox="1"/>
          <p:nvPr/>
        </p:nvSpPr>
        <p:spPr>
          <a:xfrm>
            <a:off x="5010912" y="6560820"/>
            <a:ext cx="2139696" cy="13716"/>
          </a:xfrm>
          <a:prstGeom prst="rect">
            <a:avLst/>
          </a:prstGeom>
          <a:noFill/>
        </p:spPr>
        <p:txBody>
          <a:bodyPr wrap="square" lIns="0" rIns="0" tIns="0" bIns="0" anchor="ctr">
            <a:spAutoFit/>
          </a:bodyPr>
          <a:lstStyle/>
          <a:p>
            <a:pPr algn="ctr"/>
            <a:r>
              <a:rPr sz="1800" b="1" i="0">
                <a:solidFill>
                  <a:srgbClr val="1B2A3A"/>
                </a:solidFill>
                <a:latin typeface="Helvetica"/>
              </a:rPr>
              <a:t>90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13 · SHOCKED 2-WEEK-OLD BOY</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rIns="0" t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Neonatal shock with vomiting, poor feeding, mottling, lethargy, weight loss.</a:t>
            </a:r>
          </a:p>
        </p:txBody>
      </p:sp>
      <p:sp>
        <p:nvSpPr>
          <p:cNvPr id="8" name="TextBox 7"/>
          <p:cNvSpPr txBox="1"/>
          <p:nvPr/>
        </p:nvSpPr>
        <p:spPr>
          <a:xfrm>
            <a:off x="548640" y="2898648"/>
            <a:ext cx="5486400" cy="256032"/>
          </a:xfrm>
          <a:prstGeom prst="rect">
            <a:avLst/>
          </a:prstGeom>
          <a:noFill/>
        </p:spPr>
        <p:txBody>
          <a:bodyPr wrap="square" lIns="0" rIns="0" t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 = 24 x 28 / 12.5 = 54 -&gt; pH 7.27 - matches.</a:t>
            </a:r>
          </a:p>
        </p:txBody>
      </p:sp>
      <p:sp>
        <p:nvSpPr>
          <p:cNvPr id="10" name="TextBox 9"/>
          <p:cNvSpPr txBox="1"/>
          <p:nvPr/>
        </p:nvSpPr>
        <p:spPr>
          <a:xfrm>
            <a:off x="548640" y="3557016"/>
            <a:ext cx="5486400" cy="256032"/>
          </a:xfrm>
          <a:prstGeom prst="rect">
            <a:avLst/>
          </a:prstGeom>
          <a:noFill/>
        </p:spPr>
        <p:txBody>
          <a:bodyPr wrap="square" lIns="0" rIns="0" t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7.27 - acidaemia.</a:t>
            </a:r>
          </a:p>
        </p:txBody>
      </p:sp>
      <p:sp>
        <p:nvSpPr>
          <p:cNvPr id="12" name="TextBox 11"/>
          <p:cNvSpPr txBox="1"/>
          <p:nvPr/>
        </p:nvSpPr>
        <p:spPr>
          <a:xfrm>
            <a:off x="548640" y="4215384"/>
            <a:ext cx="5486400" cy="256032"/>
          </a:xfrm>
          <a:prstGeom prst="rect">
            <a:avLst/>
          </a:prstGeom>
          <a:noFill/>
        </p:spPr>
        <p:txBody>
          <a:bodyPr wrap="square" lIns="0" rIns="0" t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HCO3 12.5 (low) -&gt; metabolic acidosis.</a:t>
            </a:r>
          </a:p>
        </p:txBody>
      </p:sp>
      <p:sp>
        <p:nvSpPr>
          <p:cNvPr id="14" name="TextBox 13"/>
          <p:cNvSpPr txBox="1"/>
          <p:nvPr/>
        </p:nvSpPr>
        <p:spPr>
          <a:xfrm>
            <a:off x="548640" y="4873752"/>
            <a:ext cx="5486400" cy="256032"/>
          </a:xfrm>
          <a:prstGeom prst="rect">
            <a:avLst/>
          </a:prstGeom>
          <a:noFill/>
        </p:spPr>
        <p:txBody>
          <a:bodyPr wrap="square" lIns="0" rIns="0" t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Winter's: PaCO2 = 1.5 x 12.5 + 8 = 26.75 +/-2. Actual 28 - appropriate.</a:t>
            </a:r>
          </a:p>
        </p:txBody>
      </p:sp>
      <p:sp>
        <p:nvSpPr>
          <p:cNvPr id="16" name="TextBox 15"/>
          <p:cNvSpPr txBox="1"/>
          <p:nvPr/>
        </p:nvSpPr>
        <p:spPr>
          <a:xfrm>
            <a:off x="548640" y="5532120"/>
            <a:ext cx="5486400" cy="256032"/>
          </a:xfrm>
          <a:prstGeom prst="rect">
            <a:avLst/>
          </a:prstGeom>
          <a:noFill/>
        </p:spPr>
        <p:txBody>
          <a:bodyPr wrap="square" lIns="0" rIns="0" t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rIns="0" tIns="0" bIns="0" anchor="t">
            <a:spAutoFit/>
          </a:bodyPr>
          <a:lstStyle/>
          <a:p>
            <a:pPr algn="l">
              <a:lnSpc>
                <a:spcPct val="125000"/>
              </a:lnSpc>
            </a:pPr>
            <a:r>
              <a:rPr sz="950" b="0" i="0">
                <a:solidFill>
                  <a:srgbClr val="1B2A3A"/>
                </a:solidFill>
                <a:latin typeface="Helvetica"/>
              </a:rPr>
              <a:t>AG = 122 - (98 + 12.5) = 11.5 (normal). NAGMA.</a:t>
            </a:r>
          </a:p>
        </p:txBody>
      </p:sp>
      <p:sp>
        <p:nvSpPr>
          <p:cNvPr id="18" name="TextBox 17"/>
          <p:cNvSpPr txBox="1"/>
          <p:nvPr/>
        </p:nvSpPr>
        <p:spPr>
          <a:xfrm>
            <a:off x="6400800" y="1920240"/>
            <a:ext cx="5486400" cy="274320"/>
          </a:xfrm>
          <a:prstGeom prst="rect">
            <a:avLst/>
          </a:prstGeom>
          <a:noFill/>
        </p:spPr>
        <p:txBody>
          <a:bodyPr wrap="square" lIns="0" rIns="0" t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59152"/>
            <a:ext cx="4937760" cy="228600"/>
          </a:xfrm>
          <a:prstGeom prst="rect">
            <a:avLst/>
          </a:prstGeom>
          <a:noFill/>
        </p:spPr>
        <p:txBody>
          <a:bodyPr wrap="square" lIns="0" rIns="0" t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rIns="0" tIns="0" bIns="0" anchor="t">
            <a:spAutoFit/>
          </a:bodyPr>
          <a:lstStyle/>
          <a:p>
            <a:pPr algn="l"/>
            <a:r>
              <a:rPr sz="1050" b="1" i="0">
                <a:solidFill>
                  <a:srgbClr val="1B2A3A"/>
                </a:solidFill>
                <a:latin typeface="Helvetica"/>
              </a:rPr>
              <a:t>122 - 98 = 24</a:t>
            </a:r>
          </a:p>
        </p:txBody>
      </p:sp>
      <p:sp>
        <p:nvSpPr>
          <p:cNvPr id="22" name="TextBox 21"/>
          <p:cNvSpPr txBox="1"/>
          <p:nvPr/>
        </p:nvSpPr>
        <p:spPr>
          <a:xfrm>
            <a:off x="8229600" y="256032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Markedly low - chloride-driven acidosis.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227832"/>
            <a:ext cx="4937760" cy="228600"/>
          </a:xfrm>
          <a:prstGeom prst="rect">
            <a:avLst/>
          </a:prstGeom>
          <a:noFill/>
        </p:spPr>
        <p:txBody>
          <a:bodyPr wrap="square" lIns="0" rIns="0" t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rIns="0" tIns="0" bIns="0" anchor="t">
            <a:spAutoFit/>
          </a:bodyPr>
          <a:lstStyle/>
          <a:p>
            <a:pPr algn="l"/>
            <a:r>
              <a:rPr sz="1050" b="1" i="0">
                <a:solidFill>
                  <a:srgbClr val="1B2A3A"/>
                </a:solidFill>
                <a:latin typeface="Helvetica"/>
              </a:rPr>
              <a:t>Albumin not given</a:t>
            </a:r>
          </a:p>
        </p:txBody>
      </p:sp>
      <p:sp>
        <p:nvSpPr>
          <p:cNvPr id="26" name="TextBox 25"/>
          <p:cNvSpPr txBox="1"/>
          <p:nvPr/>
        </p:nvSpPr>
        <p:spPr>
          <a:xfrm>
            <a:off x="8229600" y="342900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096512"/>
            <a:ext cx="4937760" cy="228600"/>
          </a:xfrm>
          <a:prstGeom prst="rect">
            <a:avLst/>
          </a:prstGeom>
          <a:noFill/>
        </p:spPr>
        <p:txBody>
          <a:bodyPr wrap="square" lIns="0" rIns="0" t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rIns="0" tIns="0" bIns="0" anchor="t">
            <a:spAutoFit/>
          </a:bodyPr>
          <a:lstStyle/>
          <a:p>
            <a:pPr algn="l"/>
            <a:r>
              <a:rPr sz="1050" b="1" i="0">
                <a:solidFill>
                  <a:srgbClr val="1B2A3A"/>
                </a:solidFill>
                <a:latin typeface="Helvetica"/>
              </a:rPr>
              <a:t>11.5 - 0 = 11.5</a:t>
            </a:r>
          </a:p>
        </p:txBody>
      </p:sp>
      <p:sp>
        <p:nvSpPr>
          <p:cNvPr id="30" name="TextBox 29"/>
          <p:cNvSpPr txBox="1"/>
          <p:nvPr/>
        </p:nvSpPr>
        <p:spPr>
          <a:xfrm>
            <a:off x="8229600" y="429768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965192"/>
            <a:ext cx="4937760" cy="228600"/>
          </a:xfrm>
          <a:prstGeom prst="rect">
            <a:avLst/>
          </a:prstGeom>
          <a:noFill/>
        </p:spPr>
        <p:txBody>
          <a:bodyPr wrap="square" lIns="0" rIns="0" t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rIns="0" t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rIns="0" tIns="0" bIns="0" anchor="t">
            <a:spAutoFit/>
          </a:bodyPr>
          <a:lstStyle/>
          <a:p>
            <a:pPr algn="l">
              <a:lnSpc>
                <a:spcPct val="120000"/>
              </a:lnSpc>
            </a:pPr>
            <a:r>
              <a:rPr sz="950" b="0" i="0">
                <a:solidFill>
                  <a:srgbClr val="5A6672"/>
                </a:solidFill>
                <a:latin typeface="Helvetica"/>
              </a:rPr>
              <a:t>Chloride-driven NAGMA.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13 · SHOCKED 2-WEEK-OLD BOY</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8"/>
            <a:ext cx="10607040" cy="274320"/>
          </a:xfrm>
          <a:prstGeom prst="rect">
            <a:avLst/>
          </a:prstGeom>
          <a:noFill/>
        </p:spPr>
        <p:txBody>
          <a:bodyPr wrap="square" lIns="0" rIns="0" t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rIns="0" tIns="0" bIns="0" anchor="t">
            <a:spAutoFit/>
          </a:bodyPr>
          <a:lstStyle/>
          <a:p>
            <a:pPr algn="l">
              <a:lnSpc>
                <a:spcPct val="135000"/>
              </a:lnSpc>
            </a:pPr>
            <a:r>
              <a:rPr sz="1150" b="0" i="0">
                <a:solidFill>
                  <a:srgbClr val="1B2A3A"/>
                </a:solidFill>
                <a:latin typeface="Helvetica"/>
              </a:rPr>
              <a:t>21-hydroxylase deficiency blocks cortisol and aldosterone synthesis. Aldosterone deficiency → renal sodium wasting, potassium retention, and acidosis. Cortisol deficiency → impaired glucose counter-regulation → hypoglycaemia. The triad of hyponatraemia + hyperkalaemia + hypoglycaemia in a shocked neonate is CAH until proven otherwise.</a:t>
            </a:r>
          </a:p>
        </p:txBody>
      </p:sp>
      <p:sp>
        <p:nvSpPr>
          <p:cNvPr id="9" name="TextBox 8"/>
          <p:cNvSpPr txBox="1"/>
          <p:nvPr/>
        </p:nvSpPr>
        <p:spPr>
          <a:xfrm>
            <a:off x="548640" y="4023360"/>
            <a:ext cx="10972800" cy="274320"/>
          </a:xfrm>
          <a:prstGeom prst="rect">
            <a:avLst/>
          </a:prstGeom>
          <a:noFill/>
        </p:spPr>
        <p:txBody>
          <a:bodyPr wrap="square" lIns="0" rIns="0" t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89120"/>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Draw the critical sample (17-OHP, cortisol, ACTH, renin, aldosterone, electrolytes, glucose) BEFORE giving hydrocortisone.</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38928"/>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Normal-looking genitalia do not exclude CAH in a boy — 46,XY infants have no ambiguous genitalia.</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88736"/>
            <a:ext cx="10698480" cy="594360"/>
          </a:xfrm>
          <a:prstGeom prst="rect">
            <a:avLst/>
          </a:prstGeom>
          <a:noFill/>
        </p:spPr>
        <p:txBody>
          <a:bodyPr wrap="square" lIns="0" rIns="0" tIns="0" bIns="0" anchor="t">
            <a:spAutoFit/>
          </a:bodyPr>
          <a:lstStyle/>
          <a:p>
            <a:pPr algn="l">
              <a:lnSpc>
                <a:spcPct val="130000"/>
              </a:lnSpc>
            </a:pPr>
            <a:r>
              <a:rPr sz="1100" b="0" i="0">
                <a:solidFill>
                  <a:srgbClr val="1B2A3A"/>
                </a:solidFill>
                <a:latin typeface="Helvetica"/>
              </a:rPr>
              <a:t>Treat hyperkalaemia and give stress-dose hydrocortisone immediately.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nchor="t">
            <a:spAutoFit/>
          </a:bodyPr>
          <a:lstStyle/>
          <a:p>
            <a:pPr algn="l"/>
            <a:r>
              <a:rPr sz="900" b="1" i="0">
                <a:solidFill>
                  <a:srgbClr val="5A6672"/>
                </a:solidFill>
                <a:latin typeface="Helvetica"/>
              </a:rPr>
              <a:t>CASE 13 · SHOCKED 2-WEEK-OLD BOY</a:t>
            </a:r>
          </a:p>
        </p:txBody>
      </p:sp>
      <p:sp>
        <p:nvSpPr>
          <p:cNvPr id="3" name="TextBox 2"/>
          <p:cNvSpPr txBox="1"/>
          <p:nvPr/>
        </p:nvSpPr>
        <p:spPr>
          <a:xfrm>
            <a:off x="548640" y="548640"/>
            <a:ext cx="10972800" cy="640080"/>
          </a:xfrm>
          <a:prstGeom prst="rect">
            <a:avLst/>
          </a:prstGeom>
          <a:noFill/>
        </p:spPr>
        <p:txBody>
          <a:bodyPr wrap="square" lIns="0" rIns="0" t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6400800" cy="274320"/>
          </a:xfrm>
          <a:prstGeom prst="rect">
            <a:avLst/>
          </a:prstGeom>
          <a:noFill/>
        </p:spPr>
        <p:txBody>
          <a:bodyPr wrap="square" lIns="0" rIns="0" t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Q1. Classify the acid-base disorder and check compensation. Is this a HAGMA or a NAGMA?</a:t>
            </a:r>
          </a:p>
        </p:txBody>
      </p:sp>
      <p:sp>
        <p:nvSpPr>
          <p:cNvPr id="7" name="TextBox 6"/>
          <p:cNvSpPr txBox="1"/>
          <p:nvPr/>
        </p:nvSpPr>
        <p:spPr>
          <a:xfrm>
            <a:off x="548640" y="2459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NAGMA with appropriate compensation.</a:t>
            </a:r>
          </a:p>
        </p:txBody>
      </p:sp>
      <p:sp>
        <p:nvSpPr>
          <p:cNvPr id="8" name="TextBox 7"/>
          <p:cNvSpPr txBox="1"/>
          <p:nvPr/>
        </p:nvSpPr>
        <p:spPr>
          <a:xfrm>
            <a:off x="548640" y="3383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Q2. Three sidekick values make the diagnosis before any specialised test. Which, and what is it?</a:t>
            </a:r>
          </a:p>
        </p:txBody>
      </p:sp>
      <p:sp>
        <p:nvSpPr>
          <p:cNvPr id="9" name="TextBox 8"/>
          <p:cNvSpPr txBox="1"/>
          <p:nvPr/>
        </p:nvSpPr>
        <p:spPr>
          <a:xfrm>
            <a:off x="548640" y="3602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Na 122 (hyponatraemia), K 7.8 (hyperkalaemia), glucose 40 (hypoglycaemia) -&gt; CAH.</a:t>
            </a:r>
          </a:p>
        </p:txBody>
      </p:sp>
      <p:sp>
        <p:nvSpPr>
          <p:cNvPr id="10" name="TextBox 9"/>
          <p:cNvSpPr txBox="1"/>
          <p:nvPr/>
        </p:nvSpPr>
        <p:spPr>
          <a:xfrm>
            <a:off x="548640" y="4526280"/>
            <a:ext cx="6492240" cy="228600"/>
          </a:xfrm>
          <a:prstGeom prst="rect">
            <a:avLst/>
          </a:prstGeom>
          <a:noFill/>
        </p:spPr>
        <p:txBody>
          <a:bodyPr wrap="square" lIns="0" rIns="0" tIns="0" bIns="0" anchor="t">
            <a:spAutoFit/>
          </a:bodyPr>
          <a:lstStyle/>
          <a:p>
            <a:pPr algn="l"/>
            <a:r>
              <a:rPr sz="1000" b="1" i="0">
                <a:solidFill>
                  <a:srgbClr val="1B2A3A"/>
                </a:solidFill>
                <a:latin typeface="Helvetica"/>
              </a:rPr>
              <a:t>Q3. A vomiting 2-week-old with pyloric stenosis would show which gas instead?</a:t>
            </a:r>
          </a:p>
        </p:txBody>
      </p:sp>
      <p:sp>
        <p:nvSpPr>
          <p:cNvPr id="11" name="TextBox 10"/>
          <p:cNvSpPr txBox="1"/>
          <p:nvPr/>
        </p:nvSpPr>
        <p:spPr>
          <a:xfrm>
            <a:off x="548640" y="4745736"/>
            <a:ext cx="6492240" cy="822960"/>
          </a:xfrm>
          <a:prstGeom prst="rect">
            <a:avLst/>
          </a:prstGeom>
          <a:noFill/>
        </p:spPr>
        <p:txBody>
          <a:bodyPr wrap="square" lIns="0" rIns="0" tIns="0" bIns="0" anchor="t">
            <a:spAutoFit/>
          </a:bodyPr>
          <a:lstStyle/>
          <a:p>
            <a:pPr algn="l">
              <a:lnSpc>
                <a:spcPct val="125000"/>
              </a:lnSpc>
            </a:pPr>
            <a:r>
              <a:rPr sz="950" b="0" i="0">
                <a:solidFill>
                  <a:srgbClr val="5A6672"/>
                </a:solidFill>
                <a:latin typeface="Helvetica"/>
              </a:rPr>
              <a:t>Metabolic alkalosis (hypochloraemic, hypokalaemic).</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03120"/>
            <a:ext cx="3931920" cy="274320"/>
          </a:xfrm>
          <a:prstGeom prst="rect">
            <a:avLst/>
          </a:prstGeom>
          <a:noFill/>
        </p:spPr>
        <p:txBody>
          <a:bodyPr wrap="square" lIns="0" rIns="0" t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rIns="0" tIns="0" bIns="0" anchor="t">
            <a:spAutoFit/>
          </a:bodyPr>
          <a:lstStyle/>
          <a:p>
            <a:pPr algn="l">
              <a:lnSpc>
                <a:spcPct val="135000"/>
              </a:lnSpc>
            </a:pPr>
            <a:r>
              <a:rPr sz="1200" b="0" i="0">
                <a:solidFill>
                  <a:srgbClr val="1B2A3A"/>
                </a:solidFill>
                <a:latin typeface="Helvetica"/>
              </a:rPr>
              <a:t>Neonatal shock + NAGMA + hyperkalaemia + hyponatraemia = CAH until proven otherwise. SID confirms the chloride-driven mechanism and tracks response to therapy.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65760"/>
          </a:xfrm>
          <a:prstGeom prst="rect">
            <a:avLst/>
          </a:prstGeom>
          <a:noFill/>
        </p:spPr>
        <p:txBody>
          <a:bodyPr wrap="square" lIns="0" rIns="0" tIns="0" bIns="0" anchor="t">
            <a:spAutoFit/>
          </a:bodyPr>
          <a:lstStyle/>
          <a:p>
            <a:pPr algn="ctr"/>
            <a:r>
              <a:rPr sz="1200" b="1" i="0">
                <a:solidFill>
                  <a:srgbClr val="0F6E6E"/>
                </a:solidFill>
                <a:latin typeface="Helvetica"/>
              </a:rPr>
              <a:t>CLOSE WITH THE ROOM</a:t>
            </a:r>
          </a:p>
        </p:txBody>
      </p:sp>
      <p:sp>
        <p:nvSpPr>
          <p:cNvPr id="4" name="TextBox 3"/>
          <p:cNvSpPr txBox="1"/>
          <p:nvPr/>
        </p:nvSpPr>
        <p:spPr>
          <a:xfrm>
            <a:off x="914400" y="2194560"/>
            <a:ext cx="10332720" cy="914400"/>
          </a:xfrm>
          <a:prstGeom prst="rect">
            <a:avLst/>
          </a:prstGeom>
          <a:noFill/>
        </p:spPr>
        <p:txBody>
          <a:bodyPr wrap="square" lIns="0" rIns="0" tIns="0" bIns="0" anchor="t">
            <a:spAutoFit/>
          </a:bodyPr>
          <a:lstStyle/>
          <a:p>
            <a:pPr algn="ctr"/>
            <a:r>
              <a:rPr sz="3000" b="1" i="0">
                <a:solidFill>
                  <a:srgbClr val="FFFFFF"/>
                </a:solidFill>
                <a:latin typeface="Helvetica"/>
              </a:rPr>
              <a:t>Two questions before the post-test</a:t>
            </a:r>
          </a:p>
        </p:txBody>
      </p:sp>
      <p:sp>
        <p:nvSpPr>
          <p:cNvPr id="5" name="Rectangle 4"/>
          <p:cNvSpPr/>
          <p:nvPr/>
        </p:nvSpPr>
        <p:spPr>
          <a:xfrm>
            <a:off x="5029200" y="3383280"/>
            <a:ext cx="2130552" cy="45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840480"/>
            <a:ext cx="9418320" cy="548640"/>
          </a:xfrm>
          <a:prstGeom prst="rect">
            <a:avLst/>
          </a:prstGeom>
          <a:noFill/>
        </p:spPr>
        <p:txBody>
          <a:bodyPr wrap="square" lIns="0" rIns="0" tIns="0" bIns="0" anchor="t">
            <a:spAutoFit/>
          </a:bodyPr>
          <a:lstStyle/>
          <a:p>
            <a:pPr algn="ctr">
              <a:lnSpc>
                <a:spcPct val="130000"/>
              </a:lnSpc>
            </a:pPr>
            <a:r>
              <a:rPr sz="1600" b="0" i="0">
                <a:solidFill>
                  <a:srgbClr val="F4F6F8"/>
                </a:solidFill>
                <a:latin typeface="Helvetica"/>
              </a:rPr>
              <a:t>1. Which case changed your mind about a value you thought you understood?</a:t>
            </a:r>
          </a:p>
        </p:txBody>
      </p:sp>
      <p:sp>
        <p:nvSpPr>
          <p:cNvPr id="7" name="TextBox 6"/>
          <p:cNvSpPr txBox="1"/>
          <p:nvPr/>
        </p:nvSpPr>
        <p:spPr>
          <a:xfrm>
            <a:off x="1371600" y="4754880"/>
            <a:ext cx="9418320" cy="548640"/>
          </a:xfrm>
          <a:prstGeom prst="rect">
            <a:avLst/>
          </a:prstGeom>
          <a:noFill/>
        </p:spPr>
        <p:txBody>
          <a:bodyPr wrap="square" lIns="0" rIns="0" tIns="0" bIns="0" anchor="t">
            <a:spAutoFit/>
          </a:bodyPr>
          <a:lstStyle/>
          <a:p>
            <a:pPr algn="ctr">
              <a:lnSpc>
                <a:spcPct val="130000"/>
              </a:lnSpc>
            </a:pPr>
            <a:r>
              <a:rPr sz="1600" b="0" i="0">
                <a:solidFill>
                  <a:srgbClr val="F4F6F8"/>
                </a:solidFill>
                <a:latin typeface="Helvetica"/>
              </a:rPr>
              <a:t>2. Which correction step will you now do as a reflex, every single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