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4" d="100"/>
          <a:sy n="114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F6E6E"/>
                </a:solidFill>
                <a:latin typeface="Helvetica"/>
              </a:rPr>
              <a:t>PAEDIATRIC ACUTE CARE TEACHING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Helvetica"/>
              </a:rPr>
              <a:t>ABG Interpretation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F4F6F8"/>
                </a:solidFill>
                <a:latin typeface="Helvetica"/>
              </a:rPr>
              <a:t>Moderator Slide Deck — 13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663440"/>
            <a:ext cx="2130552" cy="457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F4F6F8"/>
                </a:solidFill>
                <a:latin typeface="Helvetica"/>
              </a:rPr>
              <a:t>13 cases · 15 min per case · ~3.25 hours total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A6672"/>
                </a:solidFill>
                <a:latin typeface="Helvetica"/>
              </a:rPr>
              <a:t>HOW TODAY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A3A"/>
                </a:solidFill>
                <a:latin typeface="Helvetica"/>
              </a:rPr>
              <a:t>Three steps, one rhythm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365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6E6E"/>
                </a:solidFill>
                <a:latin typeface="Helvetica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B2A3A"/>
                </a:solidFill>
                <a:latin typeface="Helvetica"/>
              </a:rPr>
              <a:t>All 13 cases handed out</a:t>
            </a:r>
            <a:r>
              <a:rPr lang="en-GB" sz="1800" b="1" i="0" dirty="0">
                <a:solidFill>
                  <a:srgbClr val="1B2A3A"/>
                </a:solidFill>
                <a:latin typeface="Helvetica"/>
              </a:rPr>
              <a:t> – 8 will be drawn</a:t>
            </a:r>
            <a:endParaRPr sz="1800" b="1" i="0" dirty="0">
              <a:solidFill>
                <a:srgbClr val="1B2A3A"/>
              </a:solidFill>
              <a:latin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Every participant receives the full case booklet at once — not one case per group.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91440" cy="11887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6E6E"/>
                </a:solidFill>
                <a:latin typeface="Helvetica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2A3A"/>
                </a:solidFill>
                <a:latin typeface="Helvetica"/>
              </a:rPr>
              <a:t>8-minute settling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Participants may read ahead. Faculty do not teach yet — the facilitated cycle has not started.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29200"/>
            <a:ext cx="91440" cy="11887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6E6E"/>
                </a:solidFill>
                <a:latin typeface="Helvetica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b="1" dirty="0">
                <a:solidFill>
                  <a:srgbClr val="1B2A3A"/>
                </a:solidFill>
                <a:latin typeface="Helvetica"/>
              </a:rPr>
              <a:t>8</a:t>
            </a:r>
            <a:r>
              <a:rPr sz="1800" b="1" i="0" dirty="0">
                <a:solidFill>
                  <a:srgbClr val="1B2A3A"/>
                </a:solidFill>
                <a:latin typeface="Helvetica"/>
              </a:rPr>
              <a:t> cases × 15 minutes 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Each case runs as one 15-minute unit: 8 minutes at the small-group table, then 7 minutes in plenary with the whole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A6672"/>
                </a:solidFill>
                <a:latin typeface="Helvetica"/>
              </a:rPr>
              <a:t>FOR EVERY CASE, EVERY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A3A"/>
                </a:solidFill>
                <a:latin typeface="Helvetica"/>
              </a:rPr>
              <a:t>One case, 15 minutes, two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365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4E4E"/>
                </a:solidFill>
                <a:latin typeface="Helvetica"/>
              </a:rPr>
              <a:t>SMALL GROUP · 8 MIN · YOUR OWN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4F6F8"/>
                </a:solidFill>
                <a:latin typeface="Helvetica"/>
              </a:rPr>
              <a:t>Team works alone, in silence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60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6517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00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Discuss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661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4F6F8"/>
                </a:solidFill>
                <a:latin typeface="Helvetica"/>
              </a:rPr>
              <a:t>Faculty-mediated, at your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60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Synthesise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661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4F6F8"/>
                </a:solidFill>
                <a:latin typeface="Helvetica"/>
              </a:rPr>
              <a:t>Faculty closes for your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892B"/>
                </a:solidFill>
                <a:latin typeface="Helvetica"/>
              </a:rPr>
              <a:t>PLENARY · 7 MIN · WHOLE ROOM, LED BY MODERATOR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B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Random draw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BF7EC"/>
                </a:solidFill>
                <a:latin typeface="Helvetica"/>
              </a:rPr>
              <a:t>One group presents to 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6634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B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4754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303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Expert comment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6692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BF7EC"/>
                </a:solidFill>
                <a:latin typeface="Helvetica"/>
              </a:rPr>
              <a:t>Case questions, answered 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6634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B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03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Take-home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6692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BF7EC"/>
                </a:solidFill>
                <a:latin typeface="Helvetica"/>
              </a:rPr>
              <a:t>One pearl, whole 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A6672"/>
                </a:solidFill>
                <a:latin typeface="Helvetica"/>
              </a:rPr>
              <a:t>TWO PHASES, TWO FACILITATORS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A3A"/>
                </a:solidFill>
                <a:latin typeface="Helvetica"/>
              </a:rPr>
              <a:t>Who does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365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37160" cy="420624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6E6E"/>
                </a:solidFill>
                <a:latin typeface="Helvetica"/>
              </a:rPr>
              <a:t>GROUP FACULTY · SMALL-GROUP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3A"/>
                </a:solidFill>
                <a:latin typeface="Helvetica"/>
              </a:rPr>
              <a:t>During 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672"/>
                </a:solidFill>
                <a:latin typeface="Helvetica"/>
              </a:rPr>
              <a:t>Say nothing. Circulate silently and note where the group is stuck.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3A"/>
                </a:solidFill>
                <a:latin typeface="Helvetica"/>
              </a:rPr>
              <a:t>During discuss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672"/>
                </a:solidFill>
                <a:latin typeface="Helvetica"/>
              </a:rPr>
              <a:t>Ask before telling — "what did you get, and why" comes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3A"/>
                </a:solidFill>
                <a:latin typeface="Helvetica"/>
              </a:rPr>
              <a:t>During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672"/>
                </a:solidFill>
                <a:latin typeface="Helvetica"/>
              </a:rPr>
              <a:t>One tight paragraph: the diagnosis and the one teaching point for your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137160" cy="4206240"/>
          </a:xfrm>
          <a:prstGeom prst="rect">
            <a:avLst/>
          </a:prstGeom>
          <a:solidFill>
            <a:srgbClr val="B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2286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892B"/>
                </a:solidFill>
                <a:latin typeface="Helvetica"/>
              </a:rPr>
              <a:t>MODERATOR · PLENARY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834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3A"/>
                </a:solidFill>
                <a:latin typeface="Helvetica"/>
              </a:rPr>
              <a:t>Random draw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0040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672"/>
                </a:solidFill>
                <a:latin typeface="Helvetica"/>
              </a:rPr>
              <a:t>Pick one group, at random, to present to the whole room.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931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3A"/>
                </a:solidFill>
                <a:latin typeface="Helvetica"/>
              </a:rPr>
              <a:t>Expert comment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2976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672"/>
                </a:solidFill>
                <a:latin typeface="Helvetica"/>
              </a:rPr>
              <a:t>Walk the case-specific questions with the authoritative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3A"/>
                </a:solidFill>
                <a:latin typeface="Helvetica"/>
              </a:rPr>
              <a:t>Take-home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39496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A6672"/>
                </a:solidFill>
                <a:latin typeface="Helvetica"/>
              </a:rPr>
              <a:t>Close with one pearl for everyone before the next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A6672"/>
                </a:solidFill>
                <a:latin typeface="Helvetica"/>
              </a:rPr>
              <a:t>FACULTY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2A3A"/>
                </a:solidFill>
                <a:latin typeface="Helvetica"/>
              </a:rPr>
              <a:t>Group → Faculty facilitator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365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194560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2194560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Manju Kedarnath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61488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761488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761488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2761488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Shilpa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28416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28416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3328416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Namitha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95344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895344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3895344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Sivamurukan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194560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194560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194560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2194560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Nikhil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761488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2761488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761488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0" y="2761488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Rohit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328416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3328416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328416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0" y="3328416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Balachandar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895344"/>
            <a:ext cx="1188720" cy="49377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3895344"/>
            <a:ext cx="11887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GROUP 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895344"/>
            <a:ext cx="4206240" cy="493776"/>
          </a:xfrm>
          <a:prstGeom prst="rect">
            <a:avLst/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0" y="3895344"/>
            <a:ext cx="3931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3A"/>
                </a:solidFill>
                <a:latin typeface="Helvetica"/>
              </a:rPr>
              <a:t>Dipu / Sreedeep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DKA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10-year-old girl, 2 weeks of polyuria and 3 days of vomiting and abdominal pain. Acidotic breathing present, haemodynamically stable, GCS 11.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480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b-OHB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5.8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142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119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5302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302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302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87814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87814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b-OHB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87814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0.6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Pyloric stenosis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6-week-old first-born boy with 10 days of progressively forceful, non-bilious vomiting after every feed. Sunken eyes, lethargic but arousable, still hungry after vomiting.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82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Urine Cl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&lt;15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7.45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Urine Cl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&gt;20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Gastroenteritis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8-month-old girl with 2 days of fever and large-volume loose stools. Sunken eyes, delayed skin turgor, prolonged capillary refill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129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85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Suspected 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8-month-old girl with 1 day of fever and vomiting. Effortless tachypnoea, haemodynamically stable, lethargic. History of similar episodes in the past.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85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2.5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5302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302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302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Salicylate poisoning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15-year-old boy with tinnitus, fast breathing, vomiting, and confusion after intentional ingestion.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7.48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142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1.5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Post-arrest hanging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5-year-old boy, 20 kg, accidental hanging. Post-arrest, ROSC after 15 min CPR, ventilated. PEEP 6, PIP 16, RR 20, I:E 1:2, FiO2 100%, TV 80 mL, MAP 17.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6.88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6.2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5302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302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302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180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87814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87814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87814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Septic shock + severe anaemia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4-year-old boy with septic shock and severe anaemia. FiO2 40%, SpO2 99%, ScvO2 42%.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3.8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53020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3020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3020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9.0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87814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87814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87814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2.5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618439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625754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ScvO2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7700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65%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Methaemoglobinaemia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10-year-old boy with cyanosis, headache, tachycardia, and lethargy after receiving topical benzocaine. Blood sample drawn looks chocolate-brown. FiO2 90%, SpO2 85%, SO2 65%.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550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MetHb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PaO2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53020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3020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MetHb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3020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5%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87814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87814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87814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1.5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618439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625754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SpO2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7700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98%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83433" y="618439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83433" y="625754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SO2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83433" y="647700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Two encephalopathic neonates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Baby A: 4 days old, fed well until day 2, now lethargic and tachypnoeic. Afebrile, clear chest. On antibiotics for sepsis. Baby B: 7 days old, vomiting, lethargic, deep rapid breathing. Platelets 60,000/uL, urine ketones 3+.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SBE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Na/Cl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138/104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7225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64540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Glucose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6486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85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57225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64540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Lactate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386486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1.8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57225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64540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386486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7.14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57225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64540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PaCO2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386486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57225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64540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HCO3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386486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08127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15442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SBE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37388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-21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3433" y="408127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3433" y="415442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Na/Cl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3433" y="437388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136/100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18227" y="408127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8227" y="415442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Glucose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8227" y="437388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53020" y="408127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53020" y="415442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Lactate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3020" y="437388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pH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7.45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83433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PaCO2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3433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18227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HCO3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8227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53020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Na/Cl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53020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138/105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87814" y="5166360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Glucose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87814" y="5458968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48640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 Lactate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1.5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83433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83433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pH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3433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18227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18227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PaCO2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18227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53020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253020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HCO3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53020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487814" y="5675376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87814" y="5748528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Na/Cl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87814" y="5967984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138/102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618439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" y="625754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Glucose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647700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83433" y="6184392"/>
            <a:ext cx="2125065" cy="3992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783433" y="6257544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 Lactate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83433" y="6477000"/>
            <a:ext cx="2125065" cy="33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HUS-like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3-year-old, 5 days after bloody diarrhoea, now oliguric and pale. Hb 6.2 g/dL, platelets 40,000/uL, creatinine 3.8 mg/dL.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6.8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Phosphate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0.92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4.5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Phosphate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6.0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5302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302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iCa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302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Hepatitis A encephalopathy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6-year-old with hepatitis A, grade II encephalopathy. INR 4.2, ammonia 180 umol/L.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2.2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5302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302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302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5.5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7814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7814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7814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7.42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Albumin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2.5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3.0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5302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302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302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Fasting hypoglycaemia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18-month-old, previously well, fasted overnight after gastroenteritis and presented with a seizure. Liver palpable 3 cm. ALT 180 U/L, ammonia 110 umol/L, free fatty acids raised.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Na/Cl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138/105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b-OHB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0.3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Na/Cl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138/105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Lactate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1.5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b-OHB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0.2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6E6E"/>
                </a:solidFill>
                <a:latin typeface="Helvetica"/>
              </a:rPr>
              <a:t>CASE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2A3A"/>
                </a:solidFill>
                <a:latin typeface="Helvetica"/>
              </a:rPr>
              <a:t>Shocked 2-week-old boy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672"/>
                </a:solidFill>
                <a:latin typeface="Helvetica"/>
              </a:rPr>
              <a:t>2-week-old boy with 3 days of vomiting and poor feeding, now mottled and lethargic. Genitalia look normal. Weight below birth weight.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SMALL GROUP · 8 MIN · PRESENTING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3433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3433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3433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8227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8227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227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12.5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20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3020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020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7814" y="306324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7814" y="313639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7814" y="335584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3433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83433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3433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8227" y="382676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8227" y="389991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8227" y="411937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PLENARY REVEAL · 7 MIN · REPEAT GAS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7.35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83433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83433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PaCO2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3433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35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18227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18227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HCO3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8227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53020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53020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SBE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3020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-5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87814" y="5166360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87814" y="5239512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7814" y="5458968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135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5.0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83433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83433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Cl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3433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100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18227" y="5929884"/>
            <a:ext cx="2125065" cy="65379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18227" y="6003036"/>
            <a:ext cx="212506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A6672"/>
                </a:solidFill>
                <a:latin typeface="Helvetica"/>
              </a:rPr>
              <a:t>Glucose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18227" y="6222492"/>
            <a:ext cx="2125065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B2A3A"/>
                </a:solidFill>
                <a:latin typeface="Helvetica"/>
              </a:rPr>
              <a:t>90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F6E6E"/>
                </a:solidFill>
                <a:latin typeface="Helvetica"/>
              </a:rPr>
              <a:t>CLOSE WITH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"/>
              </a:rPr>
              <a:t>Two questions before the post-test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30552" cy="457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4F6F8"/>
                </a:solidFill>
                <a:latin typeface="Helvetica"/>
              </a:rPr>
              <a:t>1. Which case changed your mind about a value you thought you understood?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4F6F8"/>
                </a:solidFill>
                <a:latin typeface="Helvetica"/>
              </a:rPr>
              <a:t>2. Which correction step will you now do as a reflex, every single time?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1571</Words>
  <Application>Microsoft Macintosh PowerPoint</Application>
  <PresentationFormat>Widescreen</PresentationFormat>
  <Paragraphs>644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manju kedarnath</cp:lastModifiedBy>
  <cp:revision>2</cp:revision>
  <dcterms:created xsi:type="dcterms:W3CDTF">2013-01-27T09:14:16Z</dcterms:created>
  <dcterms:modified xsi:type="dcterms:W3CDTF">2026-09-19T03:23:07Z</dcterms:modified>
  <cp:category/>
</cp:coreProperties>
</file>